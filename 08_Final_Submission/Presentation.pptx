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the team behind Mise, an AI-native inventory management system built for our UMGC CMSC 495 capstone. Over the next few minutes we'll cover the problem, the MVP we built, a walkthrough of the application, the architecture, and what we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Restaurants and small food businesses lose money in three predictable ways: ingredients expire before they're used, stock gets over-ordered, and menu decisions are made without visibility into what's on hand. Mise targets the gap between what a spreadsheet records and what a kitchen needs to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Mise is a smart inventory dashboard for kitchen managers. It tracks quantity, par levels, and expiration dates, and automatically flags what's low or about to expire. The AI layer recommends dishes that use up at-risk ingredients, with a deterministic rule-based fallback if the AI is unavailable. All business logic is computed on the server, so every screen shows the same trustworthy numbers. To be clear about scope: what we're presenting is an MVP — a strong working foundation, not a finished production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manager signs in through Firebase authentication and lands on the Today view: total items tracked, items below par, items expiring within seven days, and the dollar value currently at risk. The alerts panel lists the specific items driving those numbers. Nothing here is manually flagged — it's computed live from the inventory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Inventory page the manager can add, edit, and filter ingredients — by category, low stock, or expiring soon. Each row shows the same server-computed status seen on the dashboard, so there's no disconnect between screens. Inventory can also be exported to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Menu Builder is where the AI comes in. Mise sends the current at-risk inventory to the model and gets back dish suggestions — name, ingredients, food cost and margin, and a short explanation of why the dish makes sense right now. The manager can accept, save, or dismiss each one. If the AI is unreachable, a rule-based fallback produces a suggestion through the same flow, clearly labeled so nothing is hidden from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Suppliers page connects inventory to purchasing: supplier profiles and schedules, recent orders with status, spend by supplier, and upcoming deliveries.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Reports rolls everything up: total inventory value by category, top dishes, the waste-risk summary, and a history of AI recommendations. That's the full loop — track inventory, get warned before waste happens, and get a concrete suggestion for what to cook to prevent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deliberately simple. The application is hosted on AWS EC2, and authentication is handled through Firebase. The AI integration is provider-agnostic — it sits behind our own recommendation API, so the underlying model can be swapped without changing anything downstream, and a rule-based fallback keeps the feature working if the AI is unavailable. A shared, versioned contracts package keeps frontend and backend types aligned, and all business logic is computed server-side so the UI never recomputes or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process decisions shaped the project. We used Architectural Decision Records to document significant technical choices, so the reasoning behind them stayed visible. GitHub Actions handled CI/CD and deployment to EC2. And we built the rule-based recommendation path before integrating the AI — which meant the feature was always demonstrable, and the AI work could proceed in parallel without blocking the rest of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went well: decoupling the AI from the critical path was our best architectural call — the demo never depended on an external API. The shared contracts package eliminated most integration bugs, and ADRs kept decisions documented. What we'd change: we identified the deployment pipeline as our biggest risk but still staffed it late, and it blocked testing and the demo. Onboarding friction around a private-package token cost repeated hours before we documented it. And some product decisions, like pricing rules, were finalized after engineering was ready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direct about scope. Mise today is single-tenant, inventory updates are manual, and recommendations use current stock rather than sales history. But the architecture was built with these gaps in mind: provider-agnostic AI, server-side logic, and versioned contracts mean POS integration, demand forecasting, and multi-location support can be added without rework. It's a foundation, and it was designed to be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Mise was built by the six of us — Dan Nunes, Robert Lee, Adan Medina, Spencer Renfro, Arth Thakkar, and JJ Escandor. We'd like to thank Professor Castillo for his instruction and support throughout the capstone.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518"/>
        </a:solidFill>
      </p:bgPr>
    </p:bg>
    <p:spTree>
      <p:nvGrpSpPr>
        <p:cNvPr id="1" name=""/>
        <p:cNvGrpSpPr/>
        <p:nvPr/>
      </p:nvGrpSpPr>
      <p:grpSpPr>
        <a:xfrm>
          <a:off x="0" y="0"/>
          <a:ext cx="0" cy="0"/>
          <a:chOff x="0" y="0"/>
          <a:chExt cx="0" cy="0"/>
        </a:xfrm>
      </p:grpSpPr>
      <p:sp>
        <p:nvSpPr>
          <p:cNvPr id="2" name="Text 0"/>
          <p:cNvSpPr/>
          <p:nvPr/>
        </p:nvSpPr>
        <p:spPr>
          <a:xfrm>
            <a:off x="502920" y="457200"/>
            <a:ext cx="566928" cy="566928"/>
          </a:xfrm>
          <a:prstGeom prst="rect">
            <a:avLst/>
          </a:prstGeom>
          <a:solidFill>
            <a:srgbClr val="F2F3F5"/>
          </a:solidFill>
          <a:ln/>
        </p:spPr>
        <p:txBody>
          <a:bodyPr wrap="square" lIns="0" tIns="0" rIns="0" bIns="0" rtlCol="0" anchor="ctr"/>
          <a:lstStyle/>
          <a:p>
            <a:pPr algn="ctr" indent="0" marL="0">
              <a:buNone/>
            </a:pPr>
            <a:r>
              <a:rPr lang="en-US" sz="2600" b="1" i="1" dirty="0">
                <a:solidFill>
                  <a:srgbClr val="141518"/>
                </a:solidFill>
                <a:latin typeface="Cambria" pitchFamily="34" charset="0"/>
                <a:ea typeface="Cambria" pitchFamily="34" charset="-122"/>
                <a:cs typeface="Cambria" pitchFamily="34" charset="-120"/>
              </a:rPr>
              <a:t>M</a:t>
            </a:r>
            <a:endParaRPr lang="en-US" sz="2600" dirty="0"/>
          </a:p>
        </p:txBody>
      </p:sp>
      <p:sp>
        <p:nvSpPr>
          <p:cNvPr id="3" name="Text 1"/>
          <p:cNvSpPr/>
          <p:nvPr/>
        </p:nvSpPr>
        <p:spPr>
          <a:xfrm>
            <a:off x="475488" y="1554480"/>
            <a:ext cx="8138160" cy="91440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Mise</a:t>
            </a:r>
            <a:endParaRPr lang="en-US" sz="6000" dirty="0"/>
          </a:p>
        </p:txBody>
      </p:sp>
      <p:sp>
        <p:nvSpPr>
          <p:cNvPr id="4" name="Text 2"/>
          <p:cNvSpPr/>
          <p:nvPr/>
        </p:nvSpPr>
        <p:spPr>
          <a:xfrm>
            <a:off x="502920" y="2542032"/>
            <a:ext cx="7315200" cy="457200"/>
          </a:xfrm>
          <a:prstGeom prst="rect">
            <a:avLst/>
          </a:prstGeom>
          <a:noFill/>
          <a:ln/>
        </p:spPr>
        <p:txBody>
          <a:bodyPr wrap="square" lIns="0" tIns="0" rIns="0" bIns="0" rtlCol="0" anchor="ctr"/>
          <a:lstStyle/>
          <a:p>
            <a:pPr indent="0" marL="0">
              <a:buNone/>
            </a:pPr>
            <a:r>
              <a:rPr lang="en-US" sz="1700" dirty="0">
                <a:solidFill>
                  <a:srgbClr val="C9CDD4"/>
                </a:solidFill>
                <a:latin typeface="Arial" pitchFamily="34" charset="0"/>
                <a:ea typeface="Arial" pitchFamily="34" charset="-122"/>
                <a:cs typeface="Arial" pitchFamily="34" charset="-120"/>
              </a:rPr>
              <a:t>An AI-native inventory management system for professional kitchens</a:t>
            </a:r>
            <a:endParaRPr lang="en-US" sz="1700" dirty="0"/>
          </a:p>
        </p:txBody>
      </p:sp>
      <p:sp>
        <p:nvSpPr>
          <p:cNvPr id="5" name="Shape 3"/>
          <p:cNvSpPr/>
          <p:nvPr/>
        </p:nvSpPr>
        <p:spPr>
          <a:xfrm>
            <a:off x="502920" y="3246120"/>
            <a:ext cx="8138160" cy="0"/>
          </a:xfrm>
          <a:prstGeom prst="line">
            <a:avLst/>
          </a:prstGeom>
          <a:noFill/>
          <a:ln w="12700">
            <a:solidFill>
              <a:srgbClr val="33363C"/>
            </a:solidFill>
            <a:prstDash val="solid"/>
          </a:ln>
        </p:spPr>
      </p:sp>
      <p:sp>
        <p:nvSpPr>
          <p:cNvPr id="6" name="Text 4"/>
          <p:cNvSpPr/>
          <p:nvPr/>
        </p:nvSpPr>
        <p:spPr>
          <a:xfrm>
            <a:off x="502920" y="3429000"/>
            <a:ext cx="8138160" cy="640080"/>
          </a:xfrm>
          <a:prstGeom prst="rect">
            <a:avLst/>
          </a:prstGeom>
          <a:noFill/>
          <a:ln/>
        </p:spPr>
        <p:txBody>
          <a:bodyPr wrap="square" lIns="0" tIns="0" rIns="0" bIns="0" rtlCol="0" anchor="ctr"/>
          <a:lstStyle/>
          <a:p>
            <a:pPr indent="0" marL="0">
              <a:spcAft>
                <a:spcPts val="600"/>
              </a:spcAft>
              <a:buNone/>
            </a:pPr>
            <a:r>
              <a:rPr lang="en-US" sz="1300" dirty="0">
                <a:solidFill>
                  <a:srgbClr val="C9CDD4"/>
                </a:solidFill>
                <a:latin typeface="Arial" pitchFamily="34" charset="0"/>
                <a:ea typeface="Arial" pitchFamily="34" charset="-122"/>
                <a:cs typeface="Arial" pitchFamily="34" charset="-120"/>
              </a:rPr>
              <a:t>UMGC · CMSC 495 Capstone · Summer 2026</a:t>
            </a:r>
            <a:endParaRPr lang="en-US" sz="1300" dirty="0"/>
          </a:p>
          <a:p>
            <a:pPr indent="0" marL="0">
              <a:spcAft>
                <a:spcPts val="600"/>
              </a:spcAft>
              <a:buNone/>
            </a:pPr>
            <a:r>
              <a:rPr lang="en-US" sz="1300" dirty="0">
                <a:solidFill>
                  <a:srgbClr val="8A8F98"/>
                </a:solidFill>
                <a:latin typeface="Arial" pitchFamily="34" charset="0"/>
                <a:ea typeface="Arial" pitchFamily="34" charset="-122"/>
                <a:cs typeface="Arial" pitchFamily="34" charset="-120"/>
              </a:rPr>
              <a:t>Dan Nunes · Robert Lee · Adan Medina · Spencer Renfro · Arth Thakkar · JJ Escandor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300" kern="0" dirty="0">
                <a:solidFill>
                  <a:srgbClr val="A93B2E"/>
                </a:solidFill>
                <a:latin typeface="Arial" pitchFamily="34" charset="0"/>
                <a:ea typeface="Arial" pitchFamily="34" charset="-122"/>
                <a:cs typeface="Arial" pitchFamily="34" charset="-120"/>
              </a:rPr>
              <a:t>THE PROBLEM</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Arial" pitchFamily="34" charset="-122"/>
                <a:cs typeface="Arial" pitchFamily="34" charset="-120"/>
              </a:rPr>
              <a:t>Kitchens lose money to what they can't see</a:t>
            </a:r>
            <a:endParaRPr lang="en-US" sz="3000" dirty="0"/>
          </a:p>
        </p:txBody>
      </p:sp>
      <p:sp>
        <p:nvSpPr>
          <p:cNvPr id="4" name="Shape 2"/>
          <p:cNvSpPr/>
          <p:nvPr/>
        </p:nvSpPr>
        <p:spPr>
          <a:xfrm>
            <a:off x="502920" y="1417320"/>
            <a:ext cx="2670048" cy="2331720"/>
          </a:xfrm>
          <a:prstGeom prst="roundRect">
            <a:avLst>
              <a:gd name="adj" fmla="val 2353"/>
            </a:avLst>
          </a:prstGeom>
          <a:solidFill>
            <a:srgbClr val="FAFAFB"/>
          </a:solidFill>
          <a:ln w="12700">
            <a:solidFill>
              <a:srgbClr val="E4E6EA"/>
            </a:solidFill>
            <a:prstDash val="solid"/>
          </a:ln>
        </p:spPr>
      </p:sp>
      <p:sp>
        <p:nvSpPr>
          <p:cNvPr id="5" name="Shape 3"/>
          <p:cNvSpPr/>
          <p:nvPr/>
        </p:nvSpPr>
        <p:spPr>
          <a:xfrm>
            <a:off x="777240" y="1691640"/>
            <a:ext cx="512064" cy="512064"/>
          </a:xfrm>
          <a:prstGeom prst="ellipse">
            <a:avLst/>
          </a:prstGeom>
          <a:solidFill>
            <a:srgbClr val="F7EFED"/>
          </a:solidFill>
          <a:ln/>
        </p:spPr>
      </p:sp>
      <p:pic>
        <p:nvPicPr>
          <p:cNvPr id="6" name="Image 0" descr="preencoded.png">    </p:cNvPr>
          <p:cNvPicPr>
            <a:picLocks noChangeAspect="1"/>
          </p:cNvPicPr>
          <p:nvPr/>
        </p:nvPicPr>
        <p:blipFill>
          <a:blip r:embed="rId1"/>
          <a:stretch>
            <a:fillRect/>
          </a:stretch>
        </p:blipFill>
        <p:spPr>
          <a:xfrm>
            <a:off x="896112" y="1810512"/>
            <a:ext cx="274320" cy="274320"/>
          </a:xfrm>
          <a:prstGeom prst="rect">
            <a:avLst/>
          </a:prstGeom>
        </p:spPr>
      </p:pic>
      <p:sp>
        <p:nvSpPr>
          <p:cNvPr id="7" name="Text 4"/>
          <p:cNvSpPr/>
          <p:nvPr/>
        </p:nvSpPr>
        <p:spPr>
          <a:xfrm>
            <a:off x="777240" y="2377440"/>
            <a:ext cx="2121408" cy="32004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Food waste</a:t>
            </a:r>
            <a:endParaRPr lang="en-US" sz="1600" dirty="0"/>
          </a:p>
        </p:txBody>
      </p:sp>
      <p:sp>
        <p:nvSpPr>
          <p:cNvPr id="8" name="Text 5"/>
          <p:cNvSpPr/>
          <p:nvPr/>
        </p:nvSpPr>
        <p:spPr>
          <a:xfrm>
            <a:off x="777240" y="2743200"/>
            <a:ext cx="2121408" cy="914400"/>
          </a:xfrm>
          <a:prstGeom prst="rect">
            <a:avLst/>
          </a:prstGeom>
          <a:noFill/>
          <a:ln/>
        </p:spPr>
        <p:txBody>
          <a:bodyPr wrap="square" lIns="0" tIns="0" rIns="0" bIns="0" rtlCol="0" anchor="ctr"/>
          <a:lstStyle/>
          <a:p>
            <a:pPr indent="0" marL="0">
              <a:buNone/>
            </a:pPr>
            <a:r>
              <a:rPr lang="en-US" sz="1200" dirty="0">
                <a:solidFill>
                  <a:srgbClr val="5B6470"/>
                </a:solidFill>
                <a:latin typeface="Arial" pitchFamily="34" charset="0"/>
                <a:ea typeface="Arial" pitchFamily="34" charset="-122"/>
                <a:cs typeface="Arial" pitchFamily="34" charset="-120"/>
              </a:rPr>
              <a:t>Ingredients expire before they're used. The cost is real but rarely visible until it's already lost.</a:t>
            </a:r>
            <a:endParaRPr lang="en-US" sz="1200" dirty="0"/>
          </a:p>
        </p:txBody>
      </p:sp>
      <p:sp>
        <p:nvSpPr>
          <p:cNvPr id="9" name="Shape 6"/>
          <p:cNvSpPr/>
          <p:nvPr/>
        </p:nvSpPr>
        <p:spPr>
          <a:xfrm>
            <a:off x="3447288" y="1417320"/>
            <a:ext cx="2670048" cy="2331720"/>
          </a:xfrm>
          <a:prstGeom prst="roundRect">
            <a:avLst>
              <a:gd name="adj" fmla="val 2353"/>
            </a:avLst>
          </a:prstGeom>
          <a:solidFill>
            <a:srgbClr val="FAFAFB"/>
          </a:solidFill>
          <a:ln w="12700">
            <a:solidFill>
              <a:srgbClr val="E4E6EA"/>
            </a:solidFill>
            <a:prstDash val="solid"/>
          </a:ln>
        </p:spPr>
      </p:sp>
      <p:sp>
        <p:nvSpPr>
          <p:cNvPr id="10" name="Shape 7"/>
          <p:cNvSpPr/>
          <p:nvPr/>
        </p:nvSpPr>
        <p:spPr>
          <a:xfrm>
            <a:off x="3721608" y="1691640"/>
            <a:ext cx="512064" cy="512064"/>
          </a:xfrm>
          <a:prstGeom prst="ellipse">
            <a:avLst/>
          </a:prstGeom>
          <a:solidFill>
            <a:srgbClr val="F7EFED"/>
          </a:solidFill>
          <a:ln/>
        </p:spPr>
      </p:sp>
      <p:pic>
        <p:nvPicPr>
          <p:cNvPr id="11" name="Image 1" descr="preencoded.png">    </p:cNvPr>
          <p:cNvPicPr>
            <a:picLocks noChangeAspect="1"/>
          </p:cNvPicPr>
          <p:nvPr/>
        </p:nvPicPr>
        <p:blipFill>
          <a:blip r:embed="rId2"/>
          <a:stretch>
            <a:fillRect/>
          </a:stretch>
        </p:blipFill>
        <p:spPr>
          <a:xfrm>
            <a:off x="3840480" y="1810512"/>
            <a:ext cx="274320" cy="274320"/>
          </a:xfrm>
          <a:prstGeom prst="rect">
            <a:avLst/>
          </a:prstGeom>
        </p:spPr>
      </p:pic>
      <p:sp>
        <p:nvSpPr>
          <p:cNvPr id="12" name="Text 8"/>
          <p:cNvSpPr/>
          <p:nvPr/>
        </p:nvSpPr>
        <p:spPr>
          <a:xfrm>
            <a:off x="3721608" y="2377440"/>
            <a:ext cx="2121408" cy="32004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Over-ordering</a:t>
            </a:r>
            <a:endParaRPr lang="en-US" sz="1600" dirty="0"/>
          </a:p>
        </p:txBody>
      </p:sp>
      <p:sp>
        <p:nvSpPr>
          <p:cNvPr id="13" name="Text 9"/>
          <p:cNvSpPr/>
          <p:nvPr/>
        </p:nvSpPr>
        <p:spPr>
          <a:xfrm>
            <a:off x="3721608" y="2743200"/>
            <a:ext cx="2121408" cy="914400"/>
          </a:xfrm>
          <a:prstGeom prst="rect">
            <a:avLst/>
          </a:prstGeom>
          <a:noFill/>
          <a:ln/>
        </p:spPr>
        <p:txBody>
          <a:bodyPr wrap="square" lIns="0" tIns="0" rIns="0" bIns="0" rtlCol="0" anchor="ctr"/>
          <a:lstStyle/>
          <a:p>
            <a:pPr indent="0" marL="0">
              <a:buNone/>
            </a:pPr>
            <a:r>
              <a:rPr lang="en-US" sz="1200" dirty="0">
                <a:solidFill>
                  <a:srgbClr val="5B6470"/>
                </a:solidFill>
                <a:latin typeface="Arial" pitchFamily="34" charset="0"/>
                <a:ea typeface="Arial" pitchFamily="34" charset="-122"/>
                <a:cs typeface="Arial" pitchFamily="34" charset="-120"/>
              </a:rPr>
              <a:t>Without reliable stock and par-level data, ordering is guesswork — surplus becomes waste.</a:t>
            </a:r>
            <a:endParaRPr lang="en-US" sz="1200" dirty="0"/>
          </a:p>
        </p:txBody>
      </p:sp>
      <p:sp>
        <p:nvSpPr>
          <p:cNvPr id="14" name="Shape 10"/>
          <p:cNvSpPr/>
          <p:nvPr/>
        </p:nvSpPr>
        <p:spPr>
          <a:xfrm>
            <a:off x="6391656" y="1417320"/>
            <a:ext cx="2670048" cy="2331720"/>
          </a:xfrm>
          <a:prstGeom prst="roundRect">
            <a:avLst>
              <a:gd name="adj" fmla="val 2353"/>
            </a:avLst>
          </a:prstGeom>
          <a:solidFill>
            <a:srgbClr val="FAFAFB"/>
          </a:solidFill>
          <a:ln w="12700">
            <a:solidFill>
              <a:srgbClr val="E4E6EA"/>
            </a:solidFill>
            <a:prstDash val="solid"/>
          </a:ln>
        </p:spPr>
      </p:sp>
      <p:sp>
        <p:nvSpPr>
          <p:cNvPr id="15" name="Shape 11"/>
          <p:cNvSpPr/>
          <p:nvPr/>
        </p:nvSpPr>
        <p:spPr>
          <a:xfrm>
            <a:off x="6665976" y="1691640"/>
            <a:ext cx="512064" cy="512064"/>
          </a:xfrm>
          <a:prstGeom prst="ellipse">
            <a:avLst/>
          </a:prstGeom>
          <a:solidFill>
            <a:srgbClr val="F7EFED"/>
          </a:solidFill>
          <a:ln/>
        </p:spPr>
      </p:sp>
      <p:pic>
        <p:nvPicPr>
          <p:cNvPr id="16" name="Image 2" descr="preencoded.png">    </p:cNvPr>
          <p:cNvPicPr>
            <a:picLocks noChangeAspect="1"/>
          </p:cNvPicPr>
          <p:nvPr/>
        </p:nvPicPr>
        <p:blipFill>
          <a:blip r:embed="rId3"/>
          <a:stretch>
            <a:fillRect/>
          </a:stretch>
        </p:blipFill>
        <p:spPr>
          <a:xfrm>
            <a:off x="6784848" y="1810512"/>
            <a:ext cx="274320" cy="274320"/>
          </a:xfrm>
          <a:prstGeom prst="rect">
            <a:avLst/>
          </a:prstGeom>
        </p:spPr>
      </p:pic>
      <p:sp>
        <p:nvSpPr>
          <p:cNvPr id="17" name="Text 12"/>
          <p:cNvSpPr/>
          <p:nvPr/>
        </p:nvSpPr>
        <p:spPr>
          <a:xfrm>
            <a:off x="6665976" y="2377440"/>
            <a:ext cx="2121408" cy="32004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No operational visibility</a:t>
            </a:r>
            <a:endParaRPr lang="en-US" sz="1600" dirty="0"/>
          </a:p>
        </p:txBody>
      </p:sp>
      <p:sp>
        <p:nvSpPr>
          <p:cNvPr id="18" name="Text 13"/>
          <p:cNvSpPr/>
          <p:nvPr/>
        </p:nvSpPr>
        <p:spPr>
          <a:xfrm>
            <a:off x="6665976" y="2743200"/>
            <a:ext cx="2121408" cy="914400"/>
          </a:xfrm>
          <a:prstGeom prst="rect">
            <a:avLst/>
          </a:prstGeom>
          <a:noFill/>
          <a:ln/>
        </p:spPr>
        <p:txBody>
          <a:bodyPr wrap="square" lIns="0" tIns="0" rIns="0" bIns="0" rtlCol="0" anchor="ctr"/>
          <a:lstStyle/>
          <a:p>
            <a:pPr indent="0" marL="0">
              <a:buNone/>
            </a:pPr>
            <a:r>
              <a:rPr lang="en-US" sz="1200" dirty="0">
                <a:solidFill>
                  <a:srgbClr val="5B6470"/>
                </a:solidFill>
                <a:latin typeface="Arial" pitchFamily="34" charset="0"/>
                <a:ea typeface="Arial" pitchFamily="34" charset="-122"/>
                <a:cs typeface="Arial" pitchFamily="34" charset="-120"/>
              </a:rPr>
              <a:t>Menu decisions are made without knowing what's actually on hand or what's about to expire.</a:t>
            </a:r>
            <a:endParaRPr lang="en-US" sz="1200" dirty="0"/>
          </a:p>
        </p:txBody>
      </p:sp>
      <p:sp>
        <p:nvSpPr>
          <p:cNvPr id="19" name="Text 14"/>
          <p:cNvSpPr/>
          <p:nvPr/>
        </p:nvSpPr>
        <p:spPr>
          <a:xfrm>
            <a:off x="502920" y="4160520"/>
            <a:ext cx="8138160" cy="457200"/>
          </a:xfrm>
          <a:prstGeom prst="rect">
            <a:avLst/>
          </a:prstGeom>
          <a:noFill/>
          <a:ln/>
        </p:spPr>
        <p:txBody>
          <a:bodyPr wrap="square" lIns="0" tIns="0" rIns="0" bIns="0" rtlCol="0" anchor="ctr"/>
          <a:lstStyle/>
          <a:p>
            <a:pPr indent="0" marL="0">
              <a:buNone/>
            </a:pPr>
            <a:r>
              <a:rPr lang="en-US" sz="1400" i="1" dirty="0">
                <a:solidFill>
                  <a:srgbClr val="16181D"/>
                </a:solidFill>
                <a:latin typeface="Arial" pitchFamily="34" charset="0"/>
                <a:ea typeface="Arial" pitchFamily="34" charset="-122"/>
                <a:cs typeface="Arial" pitchFamily="34" charset="-120"/>
              </a:rPr>
              <a:t>Mise targets the gap between what a spreadsheet records and what a kitchen actually needs to act 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300" kern="0" dirty="0">
                <a:solidFill>
                  <a:srgbClr val="A93B2E"/>
                </a:solidFill>
                <a:latin typeface="Arial" pitchFamily="34" charset="0"/>
                <a:ea typeface="Arial" pitchFamily="34" charset="-122"/>
                <a:cs typeface="Arial" pitchFamily="34" charset="-120"/>
              </a:rPr>
              <a:t>THE SOLUTION</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Arial" pitchFamily="34" charset="-122"/>
                <a:cs typeface="Arial" pitchFamily="34" charset="-120"/>
              </a:rPr>
              <a:t>Mise — a smart inventory dashboard, delivered as an MVP</a:t>
            </a:r>
            <a:endParaRPr lang="en-US" sz="3000" dirty="0"/>
          </a:p>
        </p:txBody>
      </p:sp>
      <p:sp>
        <p:nvSpPr>
          <p:cNvPr id="4" name="Shape 2"/>
          <p:cNvSpPr/>
          <p:nvPr/>
        </p:nvSpPr>
        <p:spPr>
          <a:xfrm>
            <a:off x="502920" y="1389888"/>
            <a:ext cx="420624" cy="420624"/>
          </a:xfrm>
          <a:prstGeom prst="ellipse">
            <a:avLst/>
          </a:prstGeom>
          <a:solidFill>
            <a:srgbClr val="F7EFED"/>
          </a:solidFill>
          <a:ln/>
        </p:spPr>
      </p:sp>
      <p:pic>
        <p:nvPicPr>
          <p:cNvPr id="5" name="Image 0" descr="preencoded.png">    </p:cNvPr>
          <p:cNvPicPr>
            <a:picLocks noChangeAspect="1"/>
          </p:cNvPicPr>
          <p:nvPr/>
        </p:nvPicPr>
        <p:blipFill>
          <a:blip r:embed="rId1"/>
          <a:stretch>
            <a:fillRect/>
          </a:stretch>
        </p:blipFill>
        <p:spPr>
          <a:xfrm>
            <a:off x="603504" y="1490472"/>
            <a:ext cx="219456" cy="219456"/>
          </a:xfrm>
          <a:prstGeom prst="rect">
            <a:avLst/>
          </a:prstGeom>
        </p:spPr>
      </p:pic>
      <p:sp>
        <p:nvSpPr>
          <p:cNvPr id="6" name="Text 3"/>
          <p:cNvSpPr/>
          <p:nvPr/>
        </p:nvSpPr>
        <p:spPr>
          <a:xfrm>
            <a:off x="1097280" y="1353312"/>
            <a:ext cx="7223760" cy="27432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Tracks what matters</a:t>
            </a:r>
            <a:endParaRPr lang="en-US" sz="1500" dirty="0"/>
          </a:p>
        </p:txBody>
      </p:sp>
      <p:sp>
        <p:nvSpPr>
          <p:cNvPr id="7" name="Text 4"/>
          <p:cNvSpPr/>
          <p:nvPr/>
        </p:nvSpPr>
        <p:spPr>
          <a:xfrm>
            <a:off x="1097280" y="1627632"/>
            <a:ext cx="7223760" cy="502920"/>
          </a:xfrm>
          <a:prstGeom prst="rect">
            <a:avLst/>
          </a:prstGeom>
          <a:noFill/>
          <a:ln/>
        </p:spPr>
        <p:txBody>
          <a:bodyPr wrap="square" lIns="0" tIns="0" rIns="0" bIns="0" rtlCol="0" anchor="ctr"/>
          <a:lstStyle/>
          <a:p>
            <a:pPr indent="0" marL="0">
              <a:buNone/>
            </a:pPr>
            <a:r>
              <a:rPr lang="en-US" sz="1250" dirty="0">
                <a:solidFill>
                  <a:srgbClr val="5B6470"/>
                </a:solidFill>
                <a:latin typeface="Arial" pitchFamily="34" charset="0"/>
                <a:ea typeface="Arial" pitchFamily="34" charset="-122"/>
                <a:cs typeface="Arial" pitchFamily="34" charset="-120"/>
              </a:rPr>
              <a:t>Quantity, par level, and expiration for every ingredient — with low-stock and expiring-soon items flagged automatically.</a:t>
            </a:r>
            <a:endParaRPr lang="en-US" sz="1250" dirty="0"/>
          </a:p>
        </p:txBody>
      </p:sp>
      <p:sp>
        <p:nvSpPr>
          <p:cNvPr id="8" name="Shape 5"/>
          <p:cNvSpPr/>
          <p:nvPr/>
        </p:nvSpPr>
        <p:spPr>
          <a:xfrm>
            <a:off x="502920" y="2286000"/>
            <a:ext cx="420624" cy="420624"/>
          </a:xfrm>
          <a:prstGeom prst="ellipse">
            <a:avLst/>
          </a:prstGeom>
          <a:solidFill>
            <a:srgbClr val="F7EFED"/>
          </a:solidFill>
          <a:ln/>
        </p:spPr>
      </p:sp>
      <p:pic>
        <p:nvPicPr>
          <p:cNvPr id="9" name="Image 1" descr="preencoded.png">    </p:cNvPr>
          <p:cNvPicPr>
            <a:picLocks noChangeAspect="1"/>
          </p:cNvPicPr>
          <p:nvPr/>
        </p:nvPicPr>
        <p:blipFill>
          <a:blip r:embed="rId2"/>
          <a:stretch>
            <a:fillRect/>
          </a:stretch>
        </p:blipFill>
        <p:spPr>
          <a:xfrm>
            <a:off x="603504" y="2386584"/>
            <a:ext cx="219456" cy="219456"/>
          </a:xfrm>
          <a:prstGeom prst="rect">
            <a:avLst/>
          </a:prstGeom>
        </p:spPr>
      </p:pic>
      <p:sp>
        <p:nvSpPr>
          <p:cNvPr id="10" name="Text 6"/>
          <p:cNvSpPr/>
          <p:nvPr/>
        </p:nvSpPr>
        <p:spPr>
          <a:xfrm>
            <a:off x="1097280" y="2249424"/>
            <a:ext cx="7223760" cy="27432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AI-suggested dishes</a:t>
            </a:r>
            <a:endParaRPr lang="en-US" sz="1500" dirty="0"/>
          </a:p>
        </p:txBody>
      </p:sp>
      <p:sp>
        <p:nvSpPr>
          <p:cNvPr id="11" name="Text 7"/>
          <p:cNvSpPr/>
          <p:nvPr/>
        </p:nvSpPr>
        <p:spPr>
          <a:xfrm>
            <a:off x="1097280" y="2523744"/>
            <a:ext cx="7223760" cy="502920"/>
          </a:xfrm>
          <a:prstGeom prst="rect">
            <a:avLst/>
          </a:prstGeom>
          <a:noFill/>
          <a:ln/>
        </p:spPr>
        <p:txBody>
          <a:bodyPr wrap="square" lIns="0" tIns="0" rIns="0" bIns="0" rtlCol="0" anchor="ctr"/>
          <a:lstStyle/>
          <a:p>
            <a:pPr indent="0" marL="0">
              <a:buNone/>
            </a:pPr>
            <a:r>
              <a:rPr lang="en-US" sz="1250" dirty="0">
                <a:solidFill>
                  <a:srgbClr val="5B6470"/>
                </a:solidFill>
                <a:latin typeface="Arial" pitchFamily="34" charset="0"/>
                <a:ea typeface="Arial" pitchFamily="34" charset="-122"/>
                <a:cs typeface="Arial" pitchFamily="34" charset="-120"/>
              </a:rPr>
              <a:t>Recommends dishes that use up at-risk ingredients before they become waste. A rule-based fallback keeps the feature working if the AI is unavailable.</a:t>
            </a:r>
            <a:endParaRPr lang="en-US" sz="1250" dirty="0"/>
          </a:p>
        </p:txBody>
      </p:sp>
      <p:sp>
        <p:nvSpPr>
          <p:cNvPr id="12" name="Shape 8"/>
          <p:cNvSpPr/>
          <p:nvPr/>
        </p:nvSpPr>
        <p:spPr>
          <a:xfrm>
            <a:off x="502920" y="3182112"/>
            <a:ext cx="420624" cy="420624"/>
          </a:xfrm>
          <a:prstGeom prst="ellipse">
            <a:avLst/>
          </a:prstGeom>
          <a:solidFill>
            <a:srgbClr val="F7EFED"/>
          </a:solidFill>
          <a:ln/>
        </p:spPr>
      </p:sp>
      <p:pic>
        <p:nvPicPr>
          <p:cNvPr id="13" name="Image 2" descr="preencoded.png">    </p:cNvPr>
          <p:cNvPicPr>
            <a:picLocks noChangeAspect="1"/>
          </p:cNvPicPr>
          <p:nvPr/>
        </p:nvPicPr>
        <p:blipFill>
          <a:blip r:embed="rId3"/>
          <a:stretch>
            <a:fillRect/>
          </a:stretch>
        </p:blipFill>
        <p:spPr>
          <a:xfrm>
            <a:off x="603504" y="3282696"/>
            <a:ext cx="219456" cy="219456"/>
          </a:xfrm>
          <a:prstGeom prst="rect">
            <a:avLst/>
          </a:prstGeom>
        </p:spPr>
      </p:pic>
      <p:sp>
        <p:nvSpPr>
          <p:cNvPr id="14" name="Text 9"/>
          <p:cNvSpPr/>
          <p:nvPr/>
        </p:nvSpPr>
        <p:spPr>
          <a:xfrm>
            <a:off x="1097280" y="3145536"/>
            <a:ext cx="7223760" cy="27432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Server-computed truth</a:t>
            </a:r>
            <a:endParaRPr lang="en-US" sz="1500" dirty="0"/>
          </a:p>
        </p:txBody>
      </p:sp>
      <p:sp>
        <p:nvSpPr>
          <p:cNvPr id="15" name="Text 10"/>
          <p:cNvSpPr/>
          <p:nvPr/>
        </p:nvSpPr>
        <p:spPr>
          <a:xfrm>
            <a:off x="1097280" y="3419856"/>
            <a:ext cx="7223760" cy="502920"/>
          </a:xfrm>
          <a:prstGeom prst="rect">
            <a:avLst/>
          </a:prstGeom>
          <a:noFill/>
          <a:ln/>
        </p:spPr>
        <p:txBody>
          <a:bodyPr wrap="square" lIns="0" tIns="0" rIns="0" bIns="0" rtlCol="0" anchor="ctr"/>
          <a:lstStyle/>
          <a:p>
            <a:pPr indent="0" marL="0">
              <a:buNone/>
            </a:pPr>
            <a:r>
              <a:rPr lang="en-US" sz="1250" dirty="0">
                <a:solidFill>
                  <a:srgbClr val="5B6470"/>
                </a:solidFill>
                <a:latin typeface="Arial" pitchFamily="34" charset="0"/>
                <a:ea typeface="Arial" pitchFamily="34" charset="-122"/>
                <a:cs typeface="Arial" pitchFamily="34" charset="-120"/>
              </a:rPr>
              <a:t>Stock status, at-risk value, and dish availability are computed on the server — every screen shows the same numbers.</a:t>
            </a:r>
            <a:endParaRPr lang="en-US" sz="1250" dirty="0"/>
          </a:p>
        </p:txBody>
      </p:sp>
      <p:sp>
        <p:nvSpPr>
          <p:cNvPr id="16" name="Shape 11"/>
          <p:cNvSpPr/>
          <p:nvPr/>
        </p:nvSpPr>
        <p:spPr>
          <a:xfrm>
            <a:off x="502920" y="4114800"/>
            <a:ext cx="8138160" cy="658368"/>
          </a:xfrm>
          <a:prstGeom prst="roundRect">
            <a:avLst>
              <a:gd name="adj" fmla="val 8333"/>
            </a:avLst>
          </a:prstGeom>
          <a:solidFill>
            <a:srgbClr val="F7EFED"/>
          </a:solidFill>
          <a:ln/>
        </p:spPr>
      </p:sp>
      <p:sp>
        <p:nvSpPr>
          <p:cNvPr id="17" name="Text 12"/>
          <p:cNvSpPr/>
          <p:nvPr/>
        </p:nvSpPr>
        <p:spPr>
          <a:xfrm>
            <a:off x="777240" y="4114800"/>
            <a:ext cx="7589520" cy="658368"/>
          </a:xfrm>
          <a:prstGeom prst="rect">
            <a:avLst/>
          </a:prstGeom>
          <a:noFill/>
          <a:ln/>
        </p:spPr>
        <p:txBody>
          <a:bodyPr wrap="square" lIns="0" tIns="0" rIns="0" bIns="0" rtlCol="0" anchor="ctr"/>
          <a:lstStyle/>
          <a:p>
            <a:pPr indent="0" marL="0">
              <a:buNone/>
            </a:pPr>
            <a:r>
              <a:rPr lang="en-US" sz="1300" b="1" dirty="0">
                <a:solidFill>
                  <a:srgbClr val="16181D"/>
                </a:solidFill>
                <a:latin typeface="Arial" pitchFamily="34" charset="0"/>
                <a:ea typeface="Arial" pitchFamily="34" charset="-122"/>
                <a:cs typeface="Arial" pitchFamily="34" charset="-120"/>
              </a:rPr>
              <a:t>Honest framing: </a:t>
            </a:r>
            <a:pPr indent="0" marL="0">
              <a:buNone/>
            </a:pPr>
            <a:r>
              <a:rPr lang="en-US" sz="1300" dirty="0">
                <a:solidFill>
                  <a:srgbClr val="16181D"/>
                </a:solidFill>
                <a:latin typeface="Arial" pitchFamily="34" charset="0"/>
                <a:ea typeface="Arial" pitchFamily="34" charset="-122"/>
                <a:cs typeface="Arial" pitchFamily="34" charset="-120"/>
              </a:rPr>
              <a:t>Mise is an MVP — a working foundation with clear room to grow, not a finished production platform.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19456"/>
          </a:xfrm>
          <a:prstGeom prst="rect">
            <a:avLst/>
          </a:prstGeom>
          <a:noFill/>
          <a:ln/>
        </p:spPr>
        <p:txBody>
          <a:bodyPr wrap="square" lIns="0" tIns="0" rIns="0" bIns="0" rtlCol="0" anchor="ctr"/>
          <a:lstStyle/>
          <a:p>
            <a:pPr indent="0" marL="0">
              <a:buNone/>
            </a:pPr>
            <a:r>
              <a:rPr lang="en-US" sz="1000" b="1" spc="300" kern="0" dirty="0">
                <a:solidFill>
                  <a:srgbClr val="A93B2E"/>
                </a:solidFill>
                <a:latin typeface="Arial" pitchFamily="34" charset="0"/>
                <a:ea typeface="Arial" pitchFamily="34" charset="-122"/>
                <a:cs typeface="Arial" pitchFamily="34" charset="-120"/>
              </a:rPr>
              <a:t>APPLICATION · 1 OF 5</a:t>
            </a:r>
            <a:endParaRPr lang="en-US" sz="1000" dirty="0"/>
          </a:p>
        </p:txBody>
      </p:sp>
      <p:sp>
        <p:nvSpPr>
          <p:cNvPr id="3" name="Text 1"/>
          <p:cNvSpPr/>
          <p:nvPr/>
        </p:nvSpPr>
        <p:spPr>
          <a:xfrm>
            <a:off x="502920" y="457200"/>
            <a:ext cx="8138160" cy="384048"/>
          </a:xfrm>
          <a:prstGeom prst="rect">
            <a:avLst/>
          </a:prstGeom>
          <a:noFill/>
          <a:ln/>
        </p:spPr>
        <p:txBody>
          <a:bodyPr wrap="square" lIns="0" tIns="0" rIns="0" bIns="0" rtlCol="0" anchor="ctr"/>
          <a:lstStyle/>
          <a:p>
            <a:pPr indent="0" marL="0">
              <a:buNone/>
            </a:pPr>
            <a:r>
              <a:rPr lang="en-US" sz="2200" b="1" dirty="0">
                <a:solidFill>
                  <a:srgbClr val="16181D"/>
                </a:solidFill>
                <a:latin typeface="Arial" pitchFamily="34" charset="0"/>
                <a:ea typeface="Arial" pitchFamily="34" charset="-122"/>
                <a:cs typeface="Arial" pitchFamily="34" charset="-120"/>
              </a:rPr>
              <a:t>Today — the daily operating view</a:t>
            </a:r>
            <a:endParaRPr lang="en-US" sz="2200" dirty="0"/>
          </a:p>
        </p:txBody>
      </p:sp>
      <p:sp>
        <p:nvSpPr>
          <p:cNvPr id="4" name="Shape 2"/>
          <p:cNvSpPr/>
          <p:nvPr/>
        </p:nvSpPr>
        <p:spPr>
          <a:xfrm>
            <a:off x="1065276" y="905256"/>
            <a:ext cx="7013448" cy="3728651"/>
          </a:xfrm>
          <a:prstGeom prst="roundRect">
            <a:avLst>
              <a:gd name="adj" fmla="val 1226"/>
            </a:avLst>
          </a:prstGeom>
          <a:solidFill>
            <a:srgbClr val="FFFFFF"/>
          </a:solidFill>
          <a:ln w="12700">
            <a:solidFill>
              <a:srgbClr val="E4E6EA"/>
            </a:solidFill>
            <a:prstDash val="solid"/>
          </a:ln>
          <a:effectLst>
            <a:outerShdw sx="100000" sy="100000" kx="0" ky="0" algn="bl" rotWithShape="0" blurRad="127000" dist="38100" dir="5400000">
              <a:srgbClr val="000000">
                <a:alpha val="18000"/>
              </a:srgbClr>
            </a:outerShdw>
          </a:effectLst>
        </p:spPr>
      </p:sp>
      <p:pic>
        <p:nvPicPr>
          <p:cNvPr id="5" name="Image 0" descr="img/today.png">    </p:cNvPr>
          <p:cNvPicPr>
            <a:picLocks noChangeAspect="1"/>
          </p:cNvPicPr>
          <p:nvPr/>
        </p:nvPicPr>
        <p:blipFill>
          <a:blip r:embed="rId1"/>
          <a:stretch>
            <a:fillRect/>
          </a:stretch>
        </p:blipFill>
        <p:spPr>
          <a:xfrm>
            <a:off x="1120140" y="960120"/>
            <a:ext cx="6903720" cy="3618923"/>
          </a:xfrm>
          <a:prstGeom prst="rect">
            <a:avLst/>
          </a:prstGeom>
        </p:spPr>
      </p:pic>
      <p:sp>
        <p:nvSpPr>
          <p:cNvPr id="6" name="Text 3"/>
          <p:cNvSpPr/>
          <p:nvPr/>
        </p:nvSpPr>
        <p:spPr>
          <a:xfrm>
            <a:off x="731520" y="4725347"/>
            <a:ext cx="7680960" cy="402336"/>
          </a:xfrm>
          <a:prstGeom prst="rect">
            <a:avLst/>
          </a:prstGeom>
          <a:noFill/>
          <a:ln/>
        </p:spPr>
        <p:txBody>
          <a:bodyPr wrap="square" lIns="0" tIns="0" rIns="0" bIns="0" rtlCol="0" anchor="ctr"/>
          <a:lstStyle/>
          <a:p>
            <a:pPr algn="ctr" indent="0" marL="0">
              <a:buNone/>
            </a:pPr>
            <a:r>
              <a:rPr lang="en-US" sz="1150" dirty="0">
                <a:solidFill>
                  <a:srgbClr val="5B6470"/>
                </a:solidFill>
                <a:latin typeface="Arial" pitchFamily="34" charset="0"/>
                <a:ea typeface="Arial" pitchFamily="34" charset="-122"/>
                <a:cs typeface="Arial" pitchFamily="34" charset="-120"/>
              </a:rPr>
              <a:t>KPIs, live alerts for expiring and below-par items, and saved AI recommendations — computed from inventory data, not manually flagged.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19456"/>
          </a:xfrm>
          <a:prstGeom prst="rect">
            <a:avLst/>
          </a:prstGeom>
          <a:noFill/>
          <a:ln/>
        </p:spPr>
        <p:txBody>
          <a:bodyPr wrap="square" lIns="0" tIns="0" rIns="0" bIns="0" rtlCol="0" anchor="ctr"/>
          <a:lstStyle/>
          <a:p>
            <a:pPr indent="0" marL="0">
              <a:buNone/>
            </a:pPr>
            <a:r>
              <a:rPr lang="en-US" sz="1000" b="1" spc="300" kern="0" dirty="0">
                <a:solidFill>
                  <a:srgbClr val="A93B2E"/>
                </a:solidFill>
                <a:latin typeface="Arial" pitchFamily="34" charset="0"/>
                <a:ea typeface="Arial" pitchFamily="34" charset="-122"/>
                <a:cs typeface="Arial" pitchFamily="34" charset="-120"/>
              </a:rPr>
              <a:t>APPLICATION · 2 OF 5</a:t>
            </a:r>
            <a:endParaRPr lang="en-US" sz="1000" dirty="0"/>
          </a:p>
        </p:txBody>
      </p:sp>
      <p:sp>
        <p:nvSpPr>
          <p:cNvPr id="3" name="Text 1"/>
          <p:cNvSpPr/>
          <p:nvPr/>
        </p:nvSpPr>
        <p:spPr>
          <a:xfrm>
            <a:off x="502920" y="457200"/>
            <a:ext cx="8138160" cy="384048"/>
          </a:xfrm>
          <a:prstGeom prst="rect">
            <a:avLst/>
          </a:prstGeom>
          <a:noFill/>
          <a:ln/>
        </p:spPr>
        <p:txBody>
          <a:bodyPr wrap="square" lIns="0" tIns="0" rIns="0" bIns="0" rtlCol="0" anchor="ctr"/>
          <a:lstStyle/>
          <a:p>
            <a:pPr indent="0" marL="0">
              <a:buNone/>
            </a:pPr>
            <a:r>
              <a:rPr lang="en-US" sz="2200" b="1" dirty="0">
                <a:solidFill>
                  <a:srgbClr val="16181D"/>
                </a:solidFill>
                <a:latin typeface="Arial" pitchFamily="34" charset="0"/>
                <a:ea typeface="Arial" pitchFamily="34" charset="-122"/>
                <a:cs typeface="Arial" pitchFamily="34" charset="-120"/>
              </a:rPr>
              <a:t>Inventory — one source of truth</a:t>
            </a:r>
            <a:endParaRPr lang="en-US" sz="2200" dirty="0"/>
          </a:p>
        </p:txBody>
      </p:sp>
      <p:sp>
        <p:nvSpPr>
          <p:cNvPr id="4" name="Shape 2"/>
          <p:cNvSpPr/>
          <p:nvPr/>
        </p:nvSpPr>
        <p:spPr>
          <a:xfrm>
            <a:off x="1065276" y="905256"/>
            <a:ext cx="7013448" cy="3698342"/>
          </a:xfrm>
          <a:prstGeom prst="roundRect">
            <a:avLst>
              <a:gd name="adj" fmla="val 1236"/>
            </a:avLst>
          </a:prstGeom>
          <a:solidFill>
            <a:srgbClr val="FFFFFF"/>
          </a:solidFill>
          <a:ln w="12700">
            <a:solidFill>
              <a:srgbClr val="E4E6EA"/>
            </a:solidFill>
            <a:prstDash val="solid"/>
          </a:ln>
          <a:effectLst>
            <a:outerShdw sx="100000" sy="100000" kx="0" ky="0" algn="bl" rotWithShape="0" blurRad="127000" dist="38100" dir="5400000">
              <a:srgbClr val="000000">
                <a:alpha val="18000"/>
              </a:srgbClr>
            </a:outerShdw>
          </a:effectLst>
        </p:spPr>
      </p:sp>
      <p:pic>
        <p:nvPicPr>
          <p:cNvPr id="5" name="Image 0" descr="img/inventory.png">    </p:cNvPr>
          <p:cNvPicPr>
            <a:picLocks noChangeAspect="1"/>
          </p:cNvPicPr>
          <p:nvPr/>
        </p:nvPicPr>
        <p:blipFill>
          <a:blip r:embed="rId1"/>
          <a:stretch>
            <a:fillRect/>
          </a:stretch>
        </p:blipFill>
        <p:spPr>
          <a:xfrm>
            <a:off x="1120140" y="960120"/>
            <a:ext cx="6903720" cy="3588614"/>
          </a:xfrm>
          <a:prstGeom prst="rect">
            <a:avLst/>
          </a:prstGeom>
        </p:spPr>
      </p:pic>
      <p:sp>
        <p:nvSpPr>
          <p:cNvPr id="6" name="Text 3"/>
          <p:cNvSpPr/>
          <p:nvPr/>
        </p:nvSpPr>
        <p:spPr>
          <a:xfrm>
            <a:off x="731520" y="4695038"/>
            <a:ext cx="7680960" cy="402336"/>
          </a:xfrm>
          <a:prstGeom prst="rect">
            <a:avLst/>
          </a:prstGeom>
          <a:noFill/>
          <a:ln/>
        </p:spPr>
        <p:txBody>
          <a:bodyPr wrap="square" lIns="0" tIns="0" rIns="0" bIns="0" rtlCol="0" anchor="ctr"/>
          <a:lstStyle/>
          <a:p>
            <a:pPr algn="ctr" indent="0" marL="0">
              <a:buNone/>
            </a:pPr>
            <a:r>
              <a:rPr lang="en-US" sz="1150" dirty="0">
                <a:solidFill>
                  <a:srgbClr val="5B6470"/>
                </a:solidFill>
                <a:latin typeface="Arial" pitchFamily="34" charset="0"/>
                <a:ea typeface="Arial" pitchFamily="34" charset="-122"/>
                <a:cs typeface="Arial" pitchFamily="34" charset="-120"/>
              </a:rPr>
              <a:t>Add, edit, and filter ingredients by category or status. Every row shows the same server-computed status as the dashboard.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19456"/>
          </a:xfrm>
          <a:prstGeom prst="rect">
            <a:avLst/>
          </a:prstGeom>
          <a:noFill/>
          <a:ln/>
        </p:spPr>
        <p:txBody>
          <a:bodyPr wrap="square" lIns="0" tIns="0" rIns="0" bIns="0" rtlCol="0" anchor="ctr"/>
          <a:lstStyle/>
          <a:p>
            <a:pPr indent="0" marL="0">
              <a:buNone/>
            </a:pPr>
            <a:r>
              <a:rPr lang="en-US" sz="1000" b="1" spc="300" kern="0" dirty="0">
                <a:solidFill>
                  <a:srgbClr val="A93B2E"/>
                </a:solidFill>
                <a:latin typeface="Arial" pitchFamily="34" charset="0"/>
                <a:ea typeface="Arial" pitchFamily="34" charset="-122"/>
                <a:cs typeface="Arial" pitchFamily="34" charset="-120"/>
              </a:rPr>
              <a:t>APPLICATION · 3 OF 5</a:t>
            </a:r>
            <a:endParaRPr lang="en-US" sz="1000" dirty="0"/>
          </a:p>
        </p:txBody>
      </p:sp>
      <p:sp>
        <p:nvSpPr>
          <p:cNvPr id="3" name="Text 1"/>
          <p:cNvSpPr/>
          <p:nvPr/>
        </p:nvSpPr>
        <p:spPr>
          <a:xfrm>
            <a:off x="502920" y="457200"/>
            <a:ext cx="8138160" cy="384048"/>
          </a:xfrm>
          <a:prstGeom prst="rect">
            <a:avLst/>
          </a:prstGeom>
          <a:noFill/>
          <a:ln/>
        </p:spPr>
        <p:txBody>
          <a:bodyPr wrap="square" lIns="0" tIns="0" rIns="0" bIns="0" rtlCol="0" anchor="ctr"/>
          <a:lstStyle/>
          <a:p>
            <a:pPr indent="0" marL="0">
              <a:buNone/>
            </a:pPr>
            <a:r>
              <a:rPr lang="en-US" sz="2200" b="1" dirty="0">
                <a:solidFill>
                  <a:srgbClr val="16181D"/>
                </a:solidFill>
                <a:latin typeface="Arial" pitchFamily="34" charset="0"/>
                <a:ea typeface="Arial" pitchFamily="34" charset="-122"/>
                <a:cs typeface="Arial" pitchFamily="34" charset="-120"/>
              </a:rPr>
              <a:t>Menu Builder — AI-suggested specials</a:t>
            </a:r>
            <a:endParaRPr lang="en-US" sz="2200" dirty="0"/>
          </a:p>
        </p:txBody>
      </p:sp>
      <p:sp>
        <p:nvSpPr>
          <p:cNvPr id="4" name="Shape 2"/>
          <p:cNvSpPr/>
          <p:nvPr/>
        </p:nvSpPr>
        <p:spPr>
          <a:xfrm>
            <a:off x="1065276" y="905256"/>
            <a:ext cx="7013448" cy="3763243"/>
          </a:xfrm>
          <a:prstGeom prst="roundRect">
            <a:avLst>
              <a:gd name="adj" fmla="val 1215"/>
            </a:avLst>
          </a:prstGeom>
          <a:solidFill>
            <a:srgbClr val="FFFFFF"/>
          </a:solidFill>
          <a:ln w="12700">
            <a:solidFill>
              <a:srgbClr val="E4E6EA"/>
            </a:solidFill>
            <a:prstDash val="solid"/>
          </a:ln>
          <a:effectLst>
            <a:outerShdw sx="100000" sy="100000" kx="0" ky="0" algn="bl" rotWithShape="0" blurRad="127000" dist="38100" dir="5400000">
              <a:srgbClr val="000000">
                <a:alpha val="18000"/>
              </a:srgbClr>
            </a:outerShdw>
          </a:effectLst>
        </p:spPr>
      </p:sp>
      <p:pic>
        <p:nvPicPr>
          <p:cNvPr id="5" name="Image 0" descr="img/menu.png">    </p:cNvPr>
          <p:cNvPicPr>
            <a:picLocks noChangeAspect="1"/>
          </p:cNvPicPr>
          <p:nvPr/>
        </p:nvPicPr>
        <p:blipFill>
          <a:blip r:embed="rId1"/>
          <a:stretch>
            <a:fillRect/>
          </a:stretch>
        </p:blipFill>
        <p:spPr>
          <a:xfrm>
            <a:off x="1120140" y="960120"/>
            <a:ext cx="6903720" cy="3653515"/>
          </a:xfrm>
          <a:prstGeom prst="rect">
            <a:avLst/>
          </a:prstGeom>
        </p:spPr>
      </p:pic>
      <p:sp>
        <p:nvSpPr>
          <p:cNvPr id="6" name="Text 3"/>
          <p:cNvSpPr/>
          <p:nvPr/>
        </p:nvSpPr>
        <p:spPr>
          <a:xfrm>
            <a:off x="731520" y="4759939"/>
            <a:ext cx="7680960" cy="402336"/>
          </a:xfrm>
          <a:prstGeom prst="rect">
            <a:avLst/>
          </a:prstGeom>
          <a:noFill/>
          <a:ln/>
        </p:spPr>
        <p:txBody>
          <a:bodyPr wrap="square" lIns="0" tIns="0" rIns="0" bIns="0" rtlCol="0" anchor="ctr"/>
          <a:lstStyle/>
          <a:p>
            <a:pPr algn="ctr" indent="0" marL="0">
              <a:buNone/>
            </a:pPr>
            <a:r>
              <a:rPr lang="en-US" sz="1150" dirty="0">
                <a:solidFill>
                  <a:srgbClr val="5B6470"/>
                </a:solidFill>
                <a:latin typeface="Arial" pitchFamily="34" charset="0"/>
                <a:ea typeface="Arial" pitchFamily="34" charset="-122"/>
                <a:cs typeface="Arial" pitchFamily="34" charset="-120"/>
              </a:rPr>
              <a:t>Each suggestion names the dish, the at-risk ingredients it uses, cost and margin, and why it makes sense now. Fallback suggestions are clearly labeled.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19456"/>
          </a:xfrm>
          <a:prstGeom prst="rect">
            <a:avLst/>
          </a:prstGeom>
          <a:noFill/>
          <a:ln/>
        </p:spPr>
        <p:txBody>
          <a:bodyPr wrap="square" lIns="0" tIns="0" rIns="0" bIns="0" rtlCol="0" anchor="ctr"/>
          <a:lstStyle/>
          <a:p>
            <a:pPr indent="0" marL="0">
              <a:buNone/>
            </a:pPr>
            <a:r>
              <a:rPr lang="en-US" sz="1000" b="1" spc="300" kern="0" dirty="0">
                <a:solidFill>
                  <a:srgbClr val="A93B2E"/>
                </a:solidFill>
                <a:latin typeface="Arial" pitchFamily="34" charset="0"/>
                <a:ea typeface="Arial" pitchFamily="34" charset="-122"/>
                <a:cs typeface="Arial" pitchFamily="34" charset="-120"/>
              </a:rPr>
              <a:t>APPLICATION · 4 OF 5</a:t>
            </a:r>
            <a:endParaRPr lang="en-US" sz="1000" dirty="0"/>
          </a:p>
        </p:txBody>
      </p:sp>
      <p:sp>
        <p:nvSpPr>
          <p:cNvPr id="3" name="Text 1"/>
          <p:cNvSpPr/>
          <p:nvPr/>
        </p:nvSpPr>
        <p:spPr>
          <a:xfrm>
            <a:off x="502920" y="457200"/>
            <a:ext cx="8138160" cy="384048"/>
          </a:xfrm>
          <a:prstGeom prst="rect">
            <a:avLst/>
          </a:prstGeom>
          <a:noFill/>
          <a:ln/>
        </p:spPr>
        <p:txBody>
          <a:bodyPr wrap="square" lIns="0" tIns="0" rIns="0" bIns="0" rtlCol="0" anchor="ctr"/>
          <a:lstStyle/>
          <a:p>
            <a:pPr indent="0" marL="0">
              <a:buNone/>
            </a:pPr>
            <a:r>
              <a:rPr lang="en-US" sz="2200" b="1" dirty="0">
                <a:solidFill>
                  <a:srgbClr val="16181D"/>
                </a:solidFill>
                <a:latin typeface="Arial" pitchFamily="34" charset="0"/>
                <a:ea typeface="Arial" pitchFamily="34" charset="-122"/>
                <a:cs typeface="Arial" pitchFamily="34" charset="-120"/>
              </a:rPr>
              <a:t>Suppliers — orders and deliveries</a:t>
            </a:r>
            <a:endParaRPr lang="en-US" sz="2200" dirty="0"/>
          </a:p>
        </p:txBody>
      </p:sp>
      <p:sp>
        <p:nvSpPr>
          <p:cNvPr id="4" name="Shape 2"/>
          <p:cNvSpPr/>
          <p:nvPr/>
        </p:nvSpPr>
        <p:spPr>
          <a:xfrm>
            <a:off x="1065276" y="905256"/>
            <a:ext cx="7013448" cy="3749009"/>
          </a:xfrm>
          <a:prstGeom prst="roundRect">
            <a:avLst>
              <a:gd name="adj" fmla="val 1220"/>
            </a:avLst>
          </a:prstGeom>
          <a:solidFill>
            <a:srgbClr val="FFFFFF"/>
          </a:solidFill>
          <a:ln w="12700">
            <a:solidFill>
              <a:srgbClr val="E4E6EA"/>
            </a:solidFill>
            <a:prstDash val="solid"/>
          </a:ln>
          <a:effectLst>
            <a:outerShdw sx="100000" sy="100000" kx="0" ky="0" algn="bl" rotWithShape="0" blurRad="127000" dist="38100" dir="5400000">
              <a:srgbClr val="000000">
                <a:alpha val="18000"/>
              </a:srgbClr>
            </a:outerShdw>
          </a:effectLst>
        </p:spPr>
      </p:sp>
      <p:pic>
        <p:nvPicPr>
          <p:cNvPr id="5" name="Image 0" descr="img/suppliers.png">    </p:cNvPr>
          <p:cNvPicPr>
            <a:picLocks noChangeAspect="1"/>
          </p:cNvPicPr>
          <p:nvPr/>
        </p:nvPicPr>
        <p:blipFill>
          <a:blip r:embed="rId1"/>
          <a:stretch>
            <a:fillRect/>
          </a:stretch>
        </p:blipFill>
        <p:spPr>
          <a:xfrm>
            <a:off x="1120140" y="960120"/>
            <a:ext cx="6903720" cy="3639281"/>
          </a:xfrm>
          <a:prstGeom prst="rect">
            <a:avLst/>
          </a:prstGeom>
        </p:spPr>
      </p:pic>
      <p:sp>
        <p:nvSpPr>
          <p:cNvPr id="6" name="Text 3"/>
          <p:cNvSpPr/>
          <p:nvPr/>
        </p:nvSpPr>
        <p:spPr>
          <a:xfrm>
            <a:off x="731520" y="4745705"/>
            <a:ext cx="7680960" cy="402336"/>
          </a:xfrm>
          <a:prstGeom prst="rect">
            <a:avLst/>
          </a:prstGeom>
          <a:noFill/>
          <a:ln/>
        </p:spPr>
        <p:txBody>
          <a:bodyPr wrap="square" lIns="0" tIns="0" rIns="0" bIns="0" rtlCol="0" anchor="ctr"/>
          <a:lstStyle/>
          <a:p>
            <a:pPr algn="ctr" indent="0" marL="0">
              <a:buNone/>
            </a:pPr>
            <a:r>
              <a:rPr lang="en-US" sz="1150" dirty="0">
                <a:solidFill>
                  <a:srgbClr val="5B6470"/>
                </a:solidFill>
                <a:latin typeface="Arial" pitchFamily="34" charset="0"/>
                <a:ea typeface="Arial" pitchFamily="34" charset="-122"/>
                <a:cs typeface="Arial" pitchFamily="34" charset="-120"/>
              </a:rPr>
              <a:t>Supplier profiles, recent orders with status, spend by supplier, and upcoming deliveries in one place.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19456"/>
          </a:xfrm>
          <a:prstGeom prst="rect">
            <a:avLst/>
          </a:prstGeom>
          <a:noFill/>
          <a:ln/>
        </p:spPr>
        <p:txBody>
          <a:bodyPr wrap="square" lIns="0" tIns="0" rIns="0" bIns="0" rtlCol="0" anchor="ctr"/>
          <a:lstStyle/>
          <a:p>
            <a:pPr indent="0" marL="0">
              <a:buNone/>
            </a:pPr>
            <a:r>
              <a:rPr lang="en-US" sz="1000" b="1" spc="300" kern="0" dirty="0">
                <a:solidFill>
                  <a:srgbClr val="A93B2E"/>
                </a:solidFill>
                <a:latin typeface="Arial" pitchFamily="34" charset="0"/>
                <a:ea typeface="Arial" pitchFamily="34" charset="-122"/>
                <a:cs typeface="Arial" pitchFamily="34" charset="-120"/>
              </a:rPr>
              <a:t>APPLICATION · 5 OF 5</a:t>
            </a:r>
            <a:endParaRPr lang="en-US" sz="1000" dirty="0"/>
          </a:p>
        </p:txBody>
      </p:sp>
      <p:sp>
        <p:nvSpPr>
          <p:cNvPr id="3" name="Text 1"/>
          <p:cNvSpPr/>
          <p:nvPr/>
        </p:nvSpPr>
        <p:spPr>
          <a:xfrm>
            <a:off x="502920" y="457200"/>
            <a:ext cx="8138160" cy="384048"/>
          </a:xfrm>
          <a:prstGeom prst="rect">
            <a:avLst/>
          </a:prstGeom>
          <a:noFill/>
          <a:ln/>
        </p:spPr>
        <p:txBody>
          <a:bodyPr wrap="square" lIns="0" tIns="0" rIns="0" bIns="0" rtlCol="0" anchor="ctr"/>
          <a:lstStyle/>
          <a:p>
            <a:pPr indent="0" marL="0">
              <a:buNone/>
            </a:pPr>
            <a:r>
              <a:rPr lang="en-US" sz="2200" b="1" dirty="0">
                <a:solidFill>
                  <a:srgbClr val="16181D"/>
                </a:solidFill>
                <a:latin typeface="Arial" pitchFamily="34" charset="0"/>
                <a:ea typeface="Arial" pitchFamily="34" charset="-122"/>
                <a:cs typeface="Arial" pitchFamily="34" charset="-120"/>
              </a:rPr>
              <a:t>Reports — the operational picture</a:t>
            </a:r>
            <a:endParaRPr lang="en-US" sz="2200" dirty="0"/>
          </a:p>
        </p:txBody>
      </p:sp>
      <p:sp>
        <p:nvSpPr>
          <p:cNvPr id="4" name="Shape 2"/>
          <p:cNvSpPr/>
          <p:nvPr/>
        </p:nvSpPr>
        <p:spPr>
          <a:xfrm>
            <a:off x="1065276" y="905256"/>
            <a:ext cx="7013448" cy="3759646"/>
          </a:xfrm>
          <a:prstGeom prst="roundRect">
            <a:avLst>
              <a:gd name="adj" fmla="val 1216"/>
            </a:avLst>
          </a:prstGeom>
          <a:solidFill>
            <a:srgbClr val="FFFFFF"/>
          </a:solidFill>
          <a:ln w="12700">
            <a:solidFill>
              <a:srgbClr val="E4E6EA"/>
            </a:solidFill>
            <a:prstDash val="solid"/>
          </a:ln>
          <a:effectLst>
            <a:outerShdw sx="100000" sy="100000" kx="0" ky="0" algn="bl" rotWithShape="0" blurRad="127000" dist="38100" dir="5400000">
              <a:srgbClr val="000000">
                <a:alpha val="18000"/>
              </a:srgbClr>
            </a:outerShdw>
          </a:effectLst>
        </p:spPr>
      </p:sp>
      <p:pic>
        <p:nvPicPr>
          <p:cNvPr id="5" name="Image 0" descr="img/reports.png">    </p:cNvPr>
          <p:cNvPicPr>
            <a:picLocks noChangeAspect="1"/>
          </p:cNvPicPr>
          <p:nvPr/>
        </p:nvPicPr>
        <p:blipFill>
          <a:blip r:embed="rId1"/>
          <a:stretch>
            <a:fillRect/>
          </a:stretch>
        </p:blipFill>
        <p:spPr>
          <a:xfrm>
            <a:off x="1120140" y="960120"/>
            <a:ext cx="6903720" cy="3649918"/>
          </a:xfrm>
          <a:prstGeom prst="rect">
            <a:avLst/>
          </a:prstGeom>
        </p:spPr>
      </p:pic>
      <p:sp>
        <p:nvSpPr>
          <p:cNvPr id="6" name="Text 3"/>
          <p:cNvSpPr/>
          <p:nvPr/>
        </p:nvSpPr>
        <p:spPr>
          <a:xfrm>
            <a:off x="731520" y="4756342"/>
            <a:ext cx="7680960" cy="402336"/>
          </a:xfrm>
          <a:prstGeom prst="rect">
            <a:avLst/>
          </a:prstGeom>
          <a:noFill/>
          <a:ln/>
        </p:spPr>
        <p:txBody>
          <a:bodyPr wrap="square" lIns="0" tIns="0" rIns="0" bIns="0" rtlCol="0" anchor="ctr"/>
          <a:lstStyle/>
          <a:p>
            <a:pPr algn="ctr" indent="0" marL="0">
              <a:buNone/>
            </a:pPr>
            <a:r>
              <a:rPr lang="en-US" sz="1150" dirty="0">
                <a:solidFill>
                  <a:srgbClr val="5B6470"/>
                </a:solidFill>
                <a:latin typeface="Arial" pitchFamily="34" charset="0"/>
                <a:ea typeface="Arial" pitchFamily="34" charset="-122"/>
                <a:cs typeface="Arial" pitchFamily="34" charset="-120"/>
              </a:rPr>
              <a:t>Inventory value by category, top dishes by price, waste-risk summary, and recommendation history.</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300" kern="0" dirty="0">
                <a:solidFill>
                  <a:srgbClr val="A93B2E"/>
                </a:solidFill>
                <a:latin typeface="Arial" pitchFamily="34" charset="0"/>
                <a:ea typeface="Arial" pitchFamily="34" charset="-122"/>
                <a:cs typeface="Arial" pitchFamily="34" charset="-120"/>
              </a:rPr>
              <a:t>ARCHITECTURE</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Arial" pitchFamily="34" charset="-122"/>
                <a:cs typeface="Arial" pitchFamily="34" charset="-120"/>
              </a:rPr>
              <a:t>Simple, cloud-hosted, and provider-agnostic</a:t>
            </a:r>
            <a:endParaRPr lang="en-US" sz="3000" dirty="0"/>
          </a:p>
        </p:txBody>
      </p:sp>
      <p:sp>
        <p:nvSpPr>
          <p:cNvPr id="4" name="Shape 2"/>
          <p:cNvSpPr/>
          <p:nvPr/>
        </p:nvSpPr>
        <p:spPr>
          <a:xfrm>
            <a:off x="502920" y="1371600"/>
            <a:ext cx="2670048" cy="1481328"/>
          </a:xfrm>
          <a:prstGeom prst="roundRect">
            <a:avLst>
              <a:gd name="adj" fmla="val 3704"/>
            </a:avLst>
          </a:prstGeom>
          <a:solidFill>
            <a:srgbClr val="FAFAFB"/>
          </a:solidFill>
          <a:ln w="12700">
            <a:solidFill>
              <a:srgbClr val="E4E6EA"/>
            </a:solidFill>
            <a:prstDash val="solid"/>
          </a:ln>
        </p:spPr>
      </p:sp>
      <p:pic>
        <p:nvPicPr>
          <p:cNvPr id="5" name="Image 0" descr="preencoded.png">    </p:cNvPr>
          <p:cNvPicPr>
            <a:picLocks noChangeAspect="1"/>
          </p:cNvPicPr>
          <p:nvPr/>
        </p:nvPicPr>
        <p:blipFill>
          <a:blip r:embed="rId1"/>
          <a:stretch>
            <a:fillRect/>
          </a:stretch>
        </p:blipFill>
        <p:spPr>
          <a:xfrm>
            <a:off x="758952" y="1609344"/>
            <a:ext cx="274320" cy="274320"/>
          </a:xfrm>
          <a:prstGeom prst="rect">
            <a:avLst/>
          </a:prstGeom>
        </p:spPr>
      </p:pic>
      <p:sp>
        <p:nvSpPr>
          <p:cNvPr id="6" name="Text 3"/>
          <p:cNvSpPr/>
          <p:nvPr/>
        </p:nvSpPr>
        <p:spPr>
          <a:xfrm>
            <a:off x="1161288" y="1591056"/>
            <a:ext cx="1801368" cy="320040"/>
          </a:xfrm>
          <a:prstGeom prst="rect">
            <a:avLst/>
          </a:prstGeom>
          <a:noFill/>
          <a:ln/>
        </p:spPr>
        <p:txBody>
          <a:bodyPr wrap="square" lIns="0" tIns="0" rIns="0" bIns="0" rtlCol="0" anchor="t"/>
          <a:lstStyle/>
          <a:p>
            <a:pPr indent="0" marL="0">
              <a:buNone/>
            </a:pPr>
            <a:r>
              <a:rPr lang="en-US" sz="1350" b="1" dirty="0">
                <a:solidFill>
                  <a:srgbClr val="16181D"/>
                </a:solidFill>
                <a:latin typeface="Arial" pitchFamily="34" charset="0"/>
                <a:ea typeface="Arial" pitchFamily="34" charset="-122"/>
                <a:cs typeface="Arial" pitchFamily="34" charset="-120"/>
              </a:rPr>
              <a:t>AWS EC2</a:t>
            </a:r>
            <a:endParaRPr lang="en-US" sz="1350" dirty="0"/>
          </a:p>
        </p:txBody>
      </p:sp>
      <p:sp>
        <p:nvSpPr>
          <p:cNvPr id="7" name="Text 4"/>
          <p:cNvSpPr/>
          <p:nvPr/>
        </p:nvSpPr>
        <p:spPr>
          <a:xfrm>
            <a:off x="758952" y="1993392"/>
            <a:ext cx="2157984" cy="777240"/>
          </a:xfrm>
          <a:prstGeom prst="rect">
            <a:avLst/>
          </a:prstGeom>
          <a:noFill/>
          <a:ln/>
        </p:spPr>
        <p:txBody>
          <a:bodyPr wrap="square" lIns="0" tIns="0" rIns="0" bIns="0" rtlCol="0" anchor="ctr"/>
          <a:lstStyle/>
          <a:p>
            <a:pPr indent="0" marL="0">
              <a:buNone/>
            </a:pPr>
            <a:r>
              <a:rPr lang="en-US" sz="1100" dirty="0">
                <a:solidFill>
                  <a:srgbClr val="5B6470"/>
                </a:solidFill>
                <a:latin typeface="Arial" pitchFamily="34" charset="0"/>
                <a:ea typeface="Arial" pitchFamily="34" charset="-122"/>
                <a:cs typeface="Arial" pitchFamily="34" charset="-120"/>
              </a:rPr>
              <a:t>Application hosted in the cloud on EC2.</a:t>
            </a:r>
            <a:endParaRPr lang="en-US" sz="1100" dirty="0"/>
          </a:p>
        </p:txBody>
      </p:sp>
      <p:sp>
        <p:nvSpPr>
          <p:cNvPr id="8" name="Shape 5"/>
          <p:cNvSpPr/>
          <p:nvPr/>
        </p:nvSpPr>
        <p:spPr>
          <a:xfrm>
            <a:off x="3447288" y="1371600"/>
            <a:ext cx="2670048" cy="1481328"/>
          </a:xfrm>
          <a:prstGeom prst="roundRect">
            <a:avLst>
              <a:gd name="adj" fmla="val 3704"/>
            </a:avLst>
          </a:prstGeom>
          <a:solidFill>
            <a:srgbClr val="FAFAFB"/>
          </a:solidFill>
          <a:ln w="12700">
            <a:solidFill>
              <a:srgbClr val="E4E6EA"/>
            </a:solidFill>
            <a:prstDash val="solid"/>
          </a:ln>
        </p:spPr>
      </p:sp>
      <p:pic>
        <p:nvPicPr>
          <p:cNvPr id="9" name="Image 1" descr="preencoded.png">    </p:cNvPr>
          <p:cNvPicPr>
            <a:picLocks noChangeAspect="1"/>
          </p:cNvPicPr>
          <p:nvPr/>
        </p:nvPicPr>
        <p:blipFill>
          <a:blip r:embed="rId2"/>
          <a:stretch>
            <a:fillRect/>
          </a:stretch>
        </p:blipFill>
        <p:spPr>
          <a:xfrm>
            <a:off x="3703320" y="1609344"/>
            <a:ext cx="274320" cy="274320"/>
          </a:xfrm>
          <a:prstGeom prst="rect">
            <a:avLst/>
          </a:prstGeom>
        </p:spPr>
      </p:pic>
      <p:sp>
        <p:nvSpPr>
          <p:cNvPr id="10" name="Text 6"/>
          <p:cNvSpPr/>
          <p:nvPr/>
        </p:nvSpPr>
        <p:spPr>
          <a:xfrm>
            <a:off x="4105656" y="1591056"/>
            <a:ext cx="1801368" cy="320040"/>
          </a:xfrm>
          <a:prstGeom prst="rect">
            <a:avLst/>
          </a:prstGeom>
          <a:noFill/>
          <a:ln/>
        </p:spPr>
        <p:txBody>
          <a:bodyPr wrap="square" lIns="0" tIns="0" rIns="0" bIns="0" rtlCol="0" anchor="t"/>
          <a:lstStyle/>
          <a:p>
            <a:pPr indent="0" marL="0">
              <a:buNone/>
            </a:pPr>
            <a:r>
              <a:rPr lang="en-US" sz="1350" b="1" dirty="0">
                <a:solidFill>
                  <a:srgbClr val="16181D"/>
                </a:solidFill>
                <a:latin typeface="Arial" pitchFamily="34" charset="0"/>
                <a:ea typeface="Arial" pitchFamily="34" charset="-122"/>
                <a:cs typeface="Arial" pitchFamily="34" charset="-120"/>
              </a:rPr>
              <a:t>Firebase Auth</a:t>
            </a:r>
            <a:endParaRPr lang="en-US" sz="1350" dirty="0"/>
          </a:p>
        </p:txBody>
      </p:sp>
      <p:sp>
        <p:nvSpPr>
          <p:cNvPr id="11" name="Text 7"/>
          <p:cNvSpPr/>
          <p:nvPr/>
        </p:nvSpPr>
        <p:spPr>
          <a:xfrm>
            <a:off x="3703320" y="1993392"/>
            <a:ext cx="2157984" cy="777240"/>
          </a:xfrm>
          <a:prstGeom prst="rect">
            <a:avLst/>
          </a:prstGeom>
          <a:noFill/>
          <a:ln/>
        </p:spPr>
        <p:txBody>
          <a:bodyPr wrap="square" lIns="0" tIns="0" rIns="0" bIns="0" rtlCol="0" anchor="ctr"/>
          <a:lstStyle/>
          <a:p>
            <a:pPr indent="0" marL="0">
              <a:buNone/>
            </a:pPr>
            <a:r>
              <a:rPr lang="en-US" sz="1100" dirty="0">
                <a:solidFill>
                  <a:srgbClr val="5B6470"/>
                </a:solidFill>
                <a:latin typeface="Arial" pitchFamily="34" charset="0"/>
                <a:ea typeface="Arial" pitchFamily="34" charset="-122"/>
                <a:cs typeface="Arial" pitchFamily="34" charset="-120"/>
              </a:rPr>
              <a:t>Authentication and session management.</a:t>
            </a:r>
            <a:endParaRPr lang="en-US" sz="1100" dirty="0"/>
          </a:p>
        </p:txBody>
      </p:sp>
      <p:sp>
        <p:nvSpPr>
          <p:cNvPr id="12" name="Shape 8"/>
          <p:cNvSpPr/>
          <p:nvPr/>
        </p:nvSpPr>
        <p:spPr>
          <a:xfrm>
            <a:off x="6391656" y="1371600"/>
            <a:ext cx="2670048" cy="1481328"/>
          </a:xfrm>
          <a:prstGeom prst="roundRect">
            <a:avLst>
              <a:gd name="adj" fmla="val 3704"/>
            </a:avLst>
          </a:prstGeom>
          <a:solidFill>
            <a:srgbClr val="FAFAFB"/>
          </a:solidFill>
          <a:ln w="12700">
            <a:solidFill>
              <a:srgbClr val="E4E6EA"/>
            </a:solidFill>
            <a:prstDash val="solid"/>
          </a:ln>
        </p:spPr>
      </p:sp>
      <p:pic>
        <p:nvPicPr>
          <p:cNvPr id="13" name="Image 2" descr="preencoded.png">    </p:cNvPr>
          <p:cNvPicPr>
            <a:picLocks noChangeAspect="1"/>
          </p:cNvPicPr>
          <p:nvPr/>
        </p:nvPicPr>
        <p:blipFill>
          <a:blip r:embed="rId3"/>
          <a:stretch>
            <a:fillRect/>
          </a:stretch>
        </p:blipFill>
        <p:spPr>
          <a:xfrm>
            <a:off x="6647688" y="1609344"/>
            <a:ext cx="274320" cy="274320"/>
          </a:xfrm>
          <a:prstGeom prst="rect">
            <a:avLst/>
          </a:prstGeom>
        </p:spPr>
      </p:pic>
      <p:sp>
        <p:nvSpPr>
          <p:cNvPr id="14" name="Text 9"/>
          <p:cNvSpPr/>
          <p:nvPr/>
        </p:nvSpPr>
        <p:spPr>
          <a:xfrm>
            <a:off x="7050024" y="1591056"/>
            <a:ext cx="1801368" cy="320040"/>
          </a:xfrm>
          <a:prstGeom prst="rect">
            <a:avLst/>
          </a:prstGeom>
          <a:noFill/>
          <a:ln/>
        </p:spPr>
        <p:txBody>
          <a:bodyPr wrap="square" lIns="0" tIns="0" rIns="0" bIns="0" rtlCol="0" anchor="t"/>
          <a:lstStyle/>
          <a:p>
            <a:pPr indent="0" marL="0">
              <a:buNone/>
            </a:pPr>
            <a:r>
              <a:rPr lang="en-US" sz="1350" b="1" dirty="0">
                <a:solidFill>
                  <a:srgbClr val="16181D"/>
                </a:solidFill>
                <a:latin typeface="Arial" pitchFamily="34" charset="0"/>
                <a:ea typeface="Arial" pitchFamily="34" charset="-122"/>
                <a:cs typeface="Arial" pitchFamily="34" charset="-120"/>
              </a:rPr>
              <a:t>Provider-agnostic AI</a:t>
            </a:r>
            <a:endParaRPr lang="en-US" sz="1350" dirty="0"/>
          </a:p>
        </p:txBody>
      </p:sp>
      <p:sp>
        <p:nvSpPr>
          <p:cNvPr id="15" name="Text 10"/>
          <p:cNvSpPr/>
          <p:nvPr/>
        </p:nvSpPr>
        <p:spPr>
          <a:xfrm>
            <a:off x="6647688" y="1993392"/>
            <a:ext cx="2157984" cy="777240"/>
          </a:xfrm>
          <a:prstGeom prst="rect">
            <a:avLst/>
          </a:prstGeom>
          <a:noFill/>
          <a:ln/>
        </p:spPr>
        <p:txBody>
          <a:bodyPr wrap="square" lIns="0" tIns="0" rIns="0" bIns="0" rtlCol="0" anchor="ctr"/>
          <a:lstStyle/>
          <a:p>
            <a:pPr indent="0" marL="0">
              <a:buNone/>
            </a:pPr>
            <a:r>
              <a:rPr lang="en-US" sz="1100" dirty="0">
                <a:solidFill>
                  <a:srgbClr val="5B6470"/>
                </a:solidFill>
                <a:latin typeface="Arial" pitchFamily="34" charset="0"/>
                <a:ea typeface="Arial" pitchFamily="34" charset="-122"/>
                <a:cs typeface="Arial" pitchFamily="34" charset="-120"/>
              </a:rPr>
              <a:t>The AI layer sits behind our own API — no dependency on a single model provider.</a:t>
            </a:r>
            <a:endParaRPr lang="en-US" sz="1100" dirty="0"/>
          </a:p>
        </p:txBody>
      </p:sp>
      <p:sp>
        <p:nvSpPr>
          <p:cNvPr id="16" name="Shape 11"/>
          <p:cNvSpPr/>
          <p:nvPr/>
        </p:nvSpPr>
        <p:spPr>
          <a:xfrm>
            <a:off x="502920" y="3127248"/>
            <a:ext cx="2670048" cy="1481328"/>
          </a:xfrm>
          <a:prstGeom prst="roundRect">
            <a:avLst>
              <a:gd name="adj" fmla="val 3704"/>
            </a:avLst>
          </a:prstGeom>
          <a:solidFill>
            <a:srgbClr val="FAFAFB"/>
          </a:solidFill>
          <a:ln w="12700">
            <a:solidFill>
              <a:srgbClr val="E4E6EA"/>
            </a:solidFill>
            <a:prstDash val="solid"/>
          </a:ln>
        </p:spPr>
      </p:sp>
      <p:pic>
        <p:nvPicPr>
          <p:cNvPr id="17" name="Image 3" descr="preencoded.png">    </p:cNvPr>
          <p:cNvPicPr>
            <a:picLocks noChangeAspect="1"/>
          </p:cNvPicPr>
          <p:nvPr/>
        </p:nvPicPr>
        <p:blipFill>
          <a:blip r:embed="rId4"/>
          <a:stretch>
            <a:fillRect/>
          </a:stretch>
        </p:blipFill>
        <p:spPr>
          <a:xfrm>
            <a:off x="758952" y="3364992"/>
            <a:ext cx="274320" cy="274320"/>
          </a:xfrm>
          <a:prstGeom prst="rect">
            <a:avLst/>
          </a:prstGeom>
        </p:spPr>
      </p:pic>
      <p:sp>
        <p:nvSpPr>
          <p:cNvPr id="18" name="Text 12"/>
          <p:cNvSpPr/>
          <p:nvPr/>
        </p:nvSpPr>
        <p:spPr>
          <a:xfrm>
            <a:off x="1161288" y="3346704"/>
            <a:ext cx="1801368" cy="320040"/>
          </a:xfrm>
          <a:prstGeom prst="rect">
            <a:avLst/>
          </a:prstGeom>
          <a:noFill/>
          <a:ln/>
        </p:spPr>
        <p:txBody>
          <a:bodyPr wrap="square" lIns="0" tIns="0" rIns="0" bIns="0" rtlCol="0" anchor="t"/>
          <a:lstStyle/>
          <a:p>
            <a:pPr indent="0" marL="0">
              <a:buNone/>
            </a:pPr>
            <a:r>
              <a:rPr lang="en-US" sz="1350" b="1" dirty="0">
                <a:solidFill>
                  <a:srgbClr val="16181D"/>
                </a:solidFill>
                <a:latin typeface="Arial" pitchFamily="34" charset="0"/>
                <a:ea typeface="Arial" pitchFamily="34" charset="-122"/>
                <a:cs typeface="Arial" pitchFamily="34" charset="-120"/>
              </a:rPr>
              <a:t>Rule-based fallback</a:t>
            </a:r>
            <a:endParaRPr lang="en-US" sz="1350" dirty="0"/>
          </a:p>
        </p:txBody>
      </p:sp>
      <p:sp>
        <p:nvSpPr>
          <p:cNvPr id="19" name="Text 13"/>
          <p:cNvSpPr/>
          <p:nvPr/>
        </p:nvSpPr>
        <p:spPr>
          <a:xfrm>
            <a:off x="758952" y="3749040"/>
            <a:ext cx="2157984" cy="777240"/>
          </a:xfrm>
          <a:prstGeom prst="rect">
            <a:avLst/>
          </a:prstGeom>
          <a:noFill/>
          <a:ln/>
        </p:spPr>
        <p:txBody>
          <a:bodyPr wrap="square" lIns="0" tIns="0" rIns="0" bIns="0" rtlCol="0" anchor="ctr"/>
          <a:lstStyle/>
          <a:p>
            <a:pPr indent="0" marL="0">
              <a:buNone/>
            </a:pPr>
            <a:r>
              <a:rPr lang="en-US" sz="1100" dirty="0">
                <a:solidFill>
                  <a:srgbClr val="5B6470"/>
                </a:solidFill>
                <a:latin typeface="Arial" pitchFamily="34" charset="0"/>
                <a:ea typeface="Arial" pitchFamily="34" charset="-122"/>
                <a:cs typeface="Arial" pitchFamily="34" charset="-120"/>
              </a:rPr>
              <a:t>Deterministic suggestions keep the feature working if the AI is unavailable.</a:t>
            </a:r>
            <a:endParaRPr lang="en-US" sz="1100" dirty="0"/>
          </a:p>
        </p:txBody>
      </p:sp>
      <p:sp>
        <p:nvSpPr>
          <p:cNvPr id="20" name="Shape 14"/>
          <p:cNvSpPr/>
          <p:nvPr/>
        </p:nvSpPr>
        <p:spPr>
          <a:xfrm>
            <a:off x="3447288" y="3127248"/>
            <a:ext cx="2670048" cy="1481328"/>
          </a:xfrm>
          <a:prstGeom prst="roundRect">
            <a:avLst>
              <a:gd name="adj" fmla="val 3704"/>
            </a:avLst>
          </a:prstGeom>
          <a:solidFill>
            <a:srgbClr val="FAFAFB"/>
          </a:solidFill>
          <a:ln w="12700">
            <a:solidFill>
              <a:srgbClr val="E4E6EA"/>
            </a:solidFill>
            <a:prstDash val="solid"/>
          </a:ln>
        </p:spPr>
      </p:sp>
      <p:pic>
        <p:nvPicPr>
          <p:cNvPr id="21" name="Image 4" descr="preencoded.png">    </p:cNvPr>
          <p:cNvPicPr>
            <a:picLocks noChangeAspect="1"/>
          </p:cNvPicPr>
          <p:nvPr/>
        </p:nvPicPr>
        <p:blipFill>
          <a:blip r:embed="rId5"/>
          <a:stretch>
            <a:fillRect/>
          </a:stretch>
        </p:blipFill>
        <p:spPr>
          <a:xfrm>
            <a:off x="3703320" y="3364992"/>
            <a:ext cx="274320" cy="274320"/>
          </a:xfrm>
          <a:prstGeom prst="rect">
            <a:avLst/>
          </a:prstGeom>
        </p:spPr>
      </p:pic>
      <p:sp>
        <p:nvSpPr>
          <p:cNvPr id="22" name="Text 15"/>
          <p:cNvSpPr/>
          <p:nvPr/>
        </p:nvSpPr>
        <p:spPr>
          <a:xfrm>
            <a:off x="4105656" y="3346704"/>
            <a:ext cx="1801368" cy="320040"/>
          </a:xfrm>
          <a:prstGeom prst="rect">
            <a:avLst/>
          </a:prstGeom>
          <a:noFill/>
          <a:ln/>
        </p:spPr>
        <p:txBody>
          <a:bodyPr wrap="square" lIns="0" tIns="0" rIns="0" bIns="0" rtlCol="0" anchor="t"/>
          <a:lstStyle/>
          <a:p>
            <a:pPr indent="0" marL="0">
              <a:buNone/>
            </a:pPr>
            <a:r>
              <a:rPr lang="en-US" sz="1350" b="1" dirty="0">
                <a:solidFill>
                  <a:srgbClr val="16181D"/>
                </a:solidFill>
                <a:latin typeface="Arial" pitchFamily="34" charset="0"/>
                <a:ea typeface="Arial" pitchFamily="34" charset="-122"/>
                <a:cs typeface="Arial" pitchFamily="34" charset="-120"/>
              </a:rPr>
              <a:t>Shared contracts package</a:t>
            </a:r>
            <a:endParaRPr lang="en-US" sz="1350" dirty="0"/>
          </a:p>
        </p:txBody>
      </p:sp>
      <p:sp>
        <p:nvSpPr>
          <p:cNvPr id="23" name="Text 16"/>
          <p:cNvSpPr/>
          <p:nvPr/>
        </p:nvSpPr>
        <p:spPr>
          <a:xfrm>
            <a:off x="3703320" y="3749040"/>
            <a:ext cx="2157984" cy="777240"/>
          </a:xfrm>
          <a:prstGeom prst="rect">
            <a:avLst/>
          </a:prstGeom>
          <a:noFill/>
          <a:ln/>
        </p:spPr>
        <p:txBody>
          <a:bodyPr wrap="square" lIns="0" tIns="0" rIns="0" bIns="0" rtlCol="0" anchor="ctr"/>
          <a:lstStyle/>
          <a:p>
            <a:pPr indent="0" marL="0">
              <a:buNone/>
            </a:pPr>
            <a:r>
              <a:rPr lang="en-US" sz="1100" dirty="0">
                <a:solidFill>
                  <a:srgbClr val="5B6470"/>
                </a:solidFill>
                <a:latin typeface="Arial" pitchFamily="34" charset="0"/>
                <a:ea typeface="Arial" pitchFamily="34" charset="-122"/>
                <a:cs typeface="Arial" pitchFamily="34" charset="-120"/>
              </a:rPr>
              <a:t>One versioned package of types and validation keeps frontend and backend aligned.</a:t>
            </a:r>
            <a:endParaRPr lang="en-US" sz="1100" dirty="0"/>
          </a:p>
        </p:txBody>
      </p:sp>
      <p:sp>
        <p:nvSpPr>
          <p:cNvPr id="24" name="Shape 17"/>
          <p:cNvSpPr/>
          <p:nvPr/>
        </p:nvSpPr>
        <p:spPr>
          <a:xfrm>
            <a:off x="6391656" y="3127248"/>
            <a:ext cx="2670048" cy="1481328"/>
          </a:xfrm>
          <a:prstGeom prst="roundRect">
            <a:avLst>
              <a:gd name="adj" fmla="val 3704"/>
            </a:avLst>
          </a:prstGeom>
          <a:solidFill>
            <a:srgbClr val="FAFAFB"/>
          </a:solidFill>
          <a:ln w="12700">
            <a:solidFill>
              <a:srgbClr val="E4E6EA"/>
            </a:solidFill>
            <a:prstDash val="solid"/>
          </a:ln>
        </p:spPr>
      </p:sp>
      <p:pic>
        <p:nvPicPr>
          <p:cNvPr id="25" name="Image 5" descr="preencoded.png">    </p:cNvPr>
          <p:cNvPicPr>
            <a:picLocks noChangeAspect="1"/>
          </p:cNvPicPr>
          <p:nvPr/>
        </p:nvPicPr>
        <p:blipFill>
          <a:blip r:embed="rId6"/>
          <a:stretch>
            <a:fillRect/>
          </a:stretch>
        </p:blipFill>
        <p:spPr>
          <a:xfrm>
            <a:off x="6647688" y="3364992"/>
            <a:ext cx="274320" cy="274320"/>
          </a:xfrm>
          <a:prstGeom prst="rect">
            <a:avLst/>
          </a:prstGeom>
        </p:spPr>
      </p:pic>
      <p:sp>
        <p:nvSpPr>
          <p:cNvPr id="26" name="Text 18"/>
          <p:cNvSpPr/>
          <p:nvPr/>
        </p:nvSpPr>
        <p:spPr>
          <a:xfrm>
            <a:off x="7050024" y="3346704"/>
            <a:ext cx="1801368" cy="320040"/>
          </a:xfrm>
          <a:prstGeom prst="rect">
            <a:avLst/>
          </a:prstGeom>
          <a:noFill/>
          <a:ln/>
        </p:spPr>
        <p:txBody>
          <a:bodyPr wrap="square" lIns="0" tIns="0" rIns="0" bIns="0" rtlCol="0" anchor="t"/>
          <a:lstStyle/>
          <a:p>
            <a:pPr indent="0" marL="0">
              <a:buNone/>
            </a:pPr>
            <a:r>
              <a:rPr lang="en-US" sz="1350" b="1" dirty="0">
                <a:solidFill>
                  <a:srgbClr val="16181D"/>
                </a:solidFill>
                <a:latin typeface="Arial" pitchFamily="34" charset="0"/>
                <a:ea typeface="Arial" pitchFamily="34" charset="-122"/>
                <a:cs typeface="Arial" pitchFamily="34" charset="-120"/>
              </a:rPr>
              <a:t>Server-computed logic</a:t>
            </a:r>
            <a:endParaRPr lang="en-US" sz="1350" dirty="0"/>
          </a:p>
        </p:txBody>
      </p:sp>
      <p:sp>
        <p:nvSpPr>
          <p:cNvPr id="27" name="Text 19"/>
          <p:cNvSpPr/>
          <p:nvPr/>
        </p:nvSpPr>
        <p:spPr>
          <a:xfrm>
            <a:off x="6647688" y="3749040"/>
            <a:ext cx="2157984" cy="777240"/>
          </a:xfrm>
          <a:prstGeom prst="rect">
            <a:avLst/>
          </a:prstGeom>
          <a:noFill/>
          <a:ln/>
        </p:spPr>
        <p:txBody>
          <a:bodyPr wrap="square" lIns="0" tIns="0" rIns="0" bIns="0" rtlCol="0" anchor="ctr"/>
          <a:lstStyle/>
          <a:p>
            <a:pPr indent="0" marL="0">
              <a:buNone/>
            </a:pPr>
            <a:r>
              <a:rPr lang="en-US" sz="1100" dirty="0">
                <a:solidFill>
                  <a:srgbClr val="5B6470"/>
                </a:solidFill>
                <a:latin typeface="Arial" pitchFamily="34" charset="0"/>
                <a:ea typeface="Arial" pitchFamily="34" charset="-122"/>
                <a:cs typeface="Arial" pitchFamily="34" charset="-120"/>
              </a:rPr>
              <a:t>Flags, at-risk value, and availability are computed once, server-side.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300" kern="0" dirty="0">
                <a:solidFill>
                  <a:srgbClr val="A93B2E"/>
                </a:solidFill>
                <a:latin typeface="Arial" pitchFamily="34" charset="0"/>
                <a:ea typeface="Arial" pitchFamily="34" charset="-122"/>
                <a:cs typeface="Arial" pitchFamily="34" charset="-120"/>
              </a:rPr>
              <a:t>PROCESS</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Arial" pitchFamily="34" charset="-122"/>
                <a:cs typeface="Arial" pitchFamily="34" charset="-120"/>
              </a:rPr>
              <a:t>How we built it</a:t>
            </a:r>
            <a:endParaRPr lang="en-US" sz="3000" dirty="0"/>
          </a:p>
        </p:txBody>
      </p:sp>
      <p:sp>
        <p:nvSpPr>
          <p:cNvPr id="4" name="Shape 2"/>
          <p:cNvSpPr/>
          <p:nvPr/>
        </p:nvSpPr>
        <p:spPr>
          <a:xfrm>
            <a:off x="502920" y="1435608"/>
            <a:ext cx="420624" cy="420624"/>
          </a:xfrm>
          <a:prstGeom prst="ellipse">
            <a:avLst/>
          </a:prstGeom>
          <a:solidFill>
            <a:srgbClr val="F1F2F4"/>
          </a:solidFill>
          <a:ln/>
        </p:spPr>
      </p:sp>
      <p:pic>
        <p:nvPicPr>
          <p:cNvPr id="5" name="Image 0" descr="preencoded.png">    </p:cNvPr>
          <p:cNvPicPr>
            <a:picLocks noChangeAspect="1"/>
          </p:cNvPicPr>
          <p:nvPr/>
        </p:nvPicPr>
        <p:blipFill>
          <a:blip r:embed="rId1"/>
          <a:stretch>
            <a:fillRect/>
          </a:stretch>
        </p:blipFill>
        <p:spPr>
          <a:xfrm>
            <a:off x="603504" y="1536192"/>
            <a:ext cx="219456" cy="219456"/>
          </a:xfrm>
          <a:prstGeom prst="rect">
            <a:avLst/>
          </a:prstGeom>
        </p:spPr>
      </p:pic>
      <p:sp>
        <p:nvSpPr>
          <p:cNvPr id="6" name="Text 3"/>
          <p:cNvSpPr/>
          <p:nvPr/>
        </p:nvSpPr>
        <p:spPr>
          <a:xfrm>
            <a:off x="1097280" y="1399032"/>
            <a:ext cx="7498080" cy="27432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Architectural Decision Records</a:t>
            </a:r>
            <a:endParaRPr lang="en-US" sz="1500" dirty="0"/>
          </a:p>
        </p:txBody>
      </p:sp>
      <p:sp>
        <p:nvSpPr>
          <p:cNvPr id="7" name="Text 4"/>
          <p:cNvSpPr/>
          <p:nvPr/>
        </p:nvSpPr>
        <p:spPr>
          <a:xfrm>
            <a:off x="1097280" y="1673352"/>
            <a:ext cx="7498080" cy="685800"/>
          </a:xfrm>
          <a:prstGeom prst="rect">
            <a:avLst/>
          </a:prstGeom>
          <a:noFill/>
          <a:ln/>
        </p:spPr>
        <p:txBody>
          <a:bodyPr wrap="square" lIns="0" tIns="0" rIns="0" bIns="0" rtlCol="0" anchor="ctr"/>
          <a:lstStyle/>
          <a:p>
            <a:pPr indent="0" marL="0">
              <a:buNone/>
            </a:pPr>
            <a:r>
              <a:rPr lang="en-US" sz="1250" dirty="0">
                <a:solidFill>
                  <a:srgbClr val="5B6470"/>
                </a:solidFill>
                <a:latin typeface="Arial" pitchFamily="34" charset="0"/>
                <a:ea typeface="Arial" pitchFamily="34" charset="-122"/>
                <a:cs typeface="Arial" pitchFamily="34" charset="-120"/>
              </a:rPr>
              <a:t>Significant technical choices — the AI fallback, the contracts package, hosting — were documented as ADRs, so decisions and their reasoning stayed visible to the whole team.</a:t>
            </a:r>
            <a:endParaRPr lang="en-US" sz="1250" dirty="0"/>
          </a:p>
        </p:txBody>
      </p:sp>
      <p:sp>
        <p:nvSpPr>
          <p:cNvPr id="8" name="Shape 5"/>
          <p:cNvSpPr/>
          <p:nvPr/>
        </p:nvSpPr>
        <p:spPr>
          <a:xfrm>
            <a:off x="502920" y="2551176"/>
            <a:ext cx="420624" cy="420624"/>
          </a:xfrm>
          <a:prstGeom prst="ellipse">
            <a:avLst/>
          </a:prstGeom>
          <a:solidFill>
            <a:srgbClr val="F1F2F4"/>
          </a:solidFill>
          <a:ln/>
        </p:spPr>
      </p:sp>
      <p:pic>
        <p:nvPicPr>
          <p:cNvPr id="9" name="Image 1" descr="preencoded.png">    </p:cNvPr>
          <p:cNvPicPr>
            <a:picLocks noChangeAspect="1"/>
          </p:cNvPicPr>
          <p:nvPr/>
        </p:nvPicPr>
        <p:blipFill>
          <a:blip r:embed="rId2"/>
          <a:stretch>
            <a:fillRect/>
          </a:stretch>
        </p:blipFill>
        <p:spPr>
          <a:xfrm>
            <a:off x="603504" y="2651760"/>
            <a:ext cx="219456" cy="219456"/>
          </a:xfrm>
          <a:prstGeom prst="rect">
            <a:avLst/>
          </a:prstGeom>
        </p:spPr>
      </p:pic>
      <p:sp>
        <p:nvSpPr>
          <p:cNvPr id="10" name="Text 6"/>
          <p:cNvSpPr/>
          <p:nvPr/>
        </p:nvSpPr>
        <p:spPr>
          <a:xfrm>
            <a:off x="1097280" y="2514600"/>
            <a:ext cx="7498080" cy="27432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CI/CD with GitHub Actions</a:t>
            </a:r>
            <a:endParaRPr lang="en-US" sz="1500" dirty="0"/>
          </a:p>
        </p:txBody>
      </p:sp>
      <p:sp>
        <p:nvSpPr>
          <p:cNvPr id="11" name="Text 7"/>
          <p:cNvSpPr/>
          <p:nvPr/>
        </p:nvSpPr>
        <p:spPr>
          <a:xfrm>
            <a:off x="1097280" y="2788920"/>
            <a:ext cx="7498080" cy="685800"/>
          </a:xfrm>
          <a:prstGeom prst="rect">
            <a:avLst/>
          </a:prstGeom>
          <a:noFill/>
          <a:ln/>
        </p:spPr>
        <p:txBody>
          <a:bodyPr wrap="square" lIns="0" tIns="0" rIns="0" bIns="0" rtlCol="0" anchor="ctr"/>
          <a:lstStyle/>
          <a:p>
            <a:pPr indent="0" marL="0">
              <a:buNone/>
            </a:pPr>
            <a:r>
              <a:rPr lang="en-US" sz="1250" dirty="0">
                <a:solidFill>
                  <a:srgbClr val="5B6470"/>
                </a:solidFill>
                <a:latin typeface="Arial" pitchFamily="34" charset="0"/>
                <a:ea typeface="Arial" pitchFamily="34" charset="-122"/>
                <a:cs typeface="Arial" pitchFamily="34" charset="-120"/>
              </a:rPr>
              <a:t>Automated builds, checks, and deployment to EC2 on merge, keeping the deployed application current with main.</a:t>
            </a:r>
            <a:endParaRPr lang="en-US" sz="1250" dirty="0"/>
          </a:p>
        </p:txBody>
      </p:sp>
      <p:sp>
        <p:nvSpPr>
          <p:cNvPr id="12" name="Shape 8"/>
          <p:cNvSpPr/>
          <p:nvPr/>
        </p:nvSpPr>
        <p:spPr>
          <a:xfrm>
            <a:off x="502920" y="3666744"/>
            <a:ext cx="420624" cy="420624"/>
          </a:xfrm>
          <a:prstGeom prst="ellipse">
            <a:avLst/>
          </a:prstGeom>
          <a:solidFill>
            <a:srgbClr val="F1F2F4"/>
          </a:solidFill>
          <a:ln/>
        </p:spPr>
      </p:sp>
      <p:pic>
        <p:nvPicPr>
          <p:cNvPr id="13" name="Image 2" descr="preencoded.png">    </p:cNvPr>
          <p:cNvPicPr>
            <a:picLocks noChangeAspect="1"/>
          </p:cNvPicPr>
          <p:nvPr/>
        </p:nvPicPr>
        <p:blipFill>
          <a:blip r:embed="rId3"/>
          <a:stretch>
            <a:fillRect/>
          </a:stretch>
        </p:blipFill>
        <p:spPr>
          <a:xfrm>
            <a:off x="603504" y="3767328"/>
            <a:ext cx="219456" cy="219456"/>
          </a:xfrm>
          <a:prstGeom prst="rect">
            <a:avLst/>
          </a:prstGeom>
        </p:spPr>
      </p:pic>
      <p:sp>
        <p:nvSpPr>
          <p:cNvPr id="14" name="Text 9"/>
          <p:cNvSpPr/>
          <p:nvPr/>
        </p:nvSpPr>
        <p:spPr>
          <a:xfrm>
            <a:off x="1097280" y="3630168"/>
            <a:ext cx="7498080" cy="27432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Fallback-first AI development</a:t>
            </a:r>
            <a:endParaRPr lang="en-US" sz="1500" dirty="0"/>
          </a:p>
        </p:txBody>
      </p:sp>
      <p:sp>
        <p:nvSpPr>
          <p:cNvPr id="15" name="Text 10"/>
          <p:cNvSpPr/>
          <p:nvPr/>
        </p:nvSpPr>
        <p:spPr>
          <a:xfrm>
            <a:off x="1097280" y="3904488"/>
            <a:ext cx="7498080" cy="685800"/>
          </a:xfrm>
          <a:prstGeom prst="rect">
            <a:avLst/>
          </a:prstGeom>
          <a:noFill/>
          <a:ln/>
        </p:spPr>
        <p:txBody>
          <a:bodyPr wrap="square" lIns="0" tIns="0" rIns="0" bIns="0" rtlCol="0" anchor="ctr"/>
          <a:lstStyle/>
          <a:p>
            <a:pPr indent="0" marL="0">
              <a:buNone/>
            </a:pPr>
            <a:r>
              <a:rPr lang="en-US" sz="1250" dirty="0">
                <a:solidFill>
                  <a:srgbClr val="5B6470"/>
                </a:solidFill>
                <a:latin typeface="Arial" pitchFamily="34" charset="0"/>
                <a:ea typeface="Arial" pitchFamily="34" charset="-122"/>
                <a:cs typeface="Arial" pitchFamily="34" charset="-120"/>
              </a:rPr>
              <a:t>We built the rule-based path before integrating the AI. The recommendation feature was demonstrable and honest at every stage, and the AI track iterated in parallel without blocking anyone.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300" kern="0" dirty="0">
                <a:solidFill>
                  <a:srgbClr val="A93B2E"/>
                </a:solidFill>
                <a:latin typeface="Arial" pitchFamily="34" charset="0"/>
                <a:ea typeface="Arial" pitchFamily="34" charset="-122"/>
                <a:cs typeface="Arial" pitchFamily="34" charset="-120"/>
              </a:rPr>
              <a:t>RETROSPECTIVE</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Arial" pitchFamily="34" charset="-122"/>
                <a:cs typeface="Arial" pitchFamily="34" charset="-120"/>
              </a:rPr>
              <a:t>What worked, and what we'd change</a:t>
            </a:r>
            <a:endParaRPr lang="en-US" sz="3000" dirty="0"/>
          </a:p>
        </p:txBody>
      </p:sp>
      <p:sp>
        <p:nvSpPr>
          <p:cNvPr id="4" name="Text 2"/>
          <p:cNvSpPr/>
          <p:nvPr/>
        </p:nvSpPr>
        <p:spPr>
          <a:xfrm>
            <a:off x="502920" y="1371600"/>
            <a:ext cx="3931920" cy="292608"/>
          </a:xfrm>
          <a:prstGeom prst="rect">
            <a:avLst/>
          </a:prstGeom>
          <a:noFill/>
          <a:ln/>
        </p:spPr>
        <p:txBody>
          <a:bodyPr wrap="square" lIns="0" tIns="0" rIns="0" bIns="0" rtlCol="0" anchor="ctr"/>
          <a:lstStyle/>
          <a:p>
            <a:pPr indent="0" marL="0">
              <a:buNone/>
            </a:pPr>
            <a:r>
              <a:rPr lang="en-US" sz="1400" b="1" dirty="0">
                <a:solidFill>
                  <a:srgbClr val="3E7247"/>
                </a:solidFill>
                <a:latin typeface="Arial" pitchFamily="34" charset="0"/>
                <a:ea typeface="Arial" pitchFamily="34" charset="-122"/>
                <a:cs typeface="Arial" pitchFamily="34" charset="-120"/>
              </a:rPr>
              <a:t>What went well</a:t>
            </a:r>
            <a:endParaRPr lang="en-US" sz="1400" dirty="0"/>
          </a:p>
        </p:txBody>
      </p:sp>
      <p:sp>
        <p:nvSpPr>
          <p:cNvPr id="5" name="Text 3"/>
          <p:cNvSpPr/>
          <p:nvPr/>
        </p:nvSpPr>
        <p:spPr>
          <a:xfrm>
            <a:off x="502920" y="1737360"/>
            <a:ext cx="3931920" cy="3017520"/>
          </a:xfrm>
          <a:prstGeom prst="rect">
            <a:avLst/>
          </a:prstGeom>
          <a:noFill/>
          <a:ln/>
        </p:spPr>
        <p:txBody>
          <a:bodyPr wrap="square" lIns="0" tIns="0" rIns="0" bIns="0" rtlCol="0" anchor="ctr"/>
          <a:lstStyle/>
          <a:p>
            <a:pPr marL="152400" indent="-152400">
              <a:spcAft>
                <a:spcPts val="1000"/>
              </a:spcAft>
              <a:buSzPct val="100000"/>
              <a:buChar char="•"/>
            </a:pPr>
            <a:r>
              <a:rPr lang="en-US" sz="1200" dirty="0">
                <a:solidFill>
                  <a:srgbClr val="5B6470"/>
                </a:solidFill>
                <a:latin typeface="Arial" pitchFamily="34" charset="0"/>
                <a:ea typeface="Arial" pitchFamily="34" charset="-122"/>
                <a:cs typeface="Arial" pitchFamily="34" charset="-120"/>
              </a:rPr>
              <a:t>Decoupling AI from the critical path — the fallback-first design meant the demo never depended on an external API call.</a:t>
            </a:r>
            <a:endParaRPr lang="en-US" sz="1200" dirty="0"/>
          </a:p>
          <a:p>
            <a:pPr marL="152400" indent="-152400">
              <a:spcAft>
                <a:spcPts val="1000"/>
              </a:spcAft>
              <a:buSzPct val="100000"/>
              <a:buChar char="•"/>
            </a:pPr>
            <a:r>
              <a:rPr lang="en-US" sz="1200" dirty="0">
                <a:solidFill>
                  <a:srgbClr val="5B6470"/>
                </a:solidFill>
                <a:latin typeface="Arial" pitchFamily="34" charset="0"/>
                <a:ea typeface="Arial" pitchFamily="34" charset="-122"/>
                <a:cs typeface="Arial" pitchFamily="34" charset="-120"/>
              </a:rPr>
              <a:t>The shared contracts package eliminated most integration bugs from mismatched data shapes.</a:t>
            </a:r>
            <a:endParaRPr lang="en-US" sz="1200" dirty="0"/>
          </a:p>
          <a:p>
            <a:pPr marL="152400" indent="-152400">
              <a:spcAft>
                <a:spcPts val="1000"/>
              </a:spcAft>
              <a:buSzPct val="100000"/>
              <a:buChar char="•"/>
            </a:pPr>
            <a:r>
              <a:rPr lang="en-US" sz="1200" dirty="0">
                <a:solidFill>
                  <a:srgbClr val="5B6470"/>
                </a:solidFill>
                <a:latin typeface="Arial" pitchFamily="34" charset="0"/>
                <a:ea typeface="Arial" pitchFamily="34" charset="-122"/>
                <a:cs typeface="Arial" pitchFamily="34" charset="-120"/>
              </a:rPr>
              <a:t>ADRs kept architectural reasoning documented and shared.</a:t>
            </a:r>
            <a:endParaRPr lang="en-US" sz="1200" dirty="0"/>
          </a:p>
        </p:txBody>
      </p:sp>
      <p:sp>
        <p:nvSpPr>
          <p:cNvPr id="6" name="Text 4"/>
          <p:cNvSpPr/>
          <p:nvPr/>
        </p:nvSpPr>
        <p:spPr>
          <a:xfrm>
            <a:off x="4709160" y="1371600"/>
            <a:ext cx="3931920" cy="292608"/>
          </a:xfrm>
          <a:prstGeom prst="rect">
            <a:avLst/>
          </a:prstGeom>
          <a:noFill/>
          <a:ln/>
        </p:spPr>
        <p:txBody>
          <a:bodyPr wrap="square" lIns="0" tIns="0" rIns="0" bIns="0" rtlCol="0" anchor="ctr"/>
          <a:lstStyle/>
          <a:p>
            <a:pPr indent="0" marL="0">
              <a:buNone/>
            </a:pPr>
            <a:r>
              <a:rPr lang="en-US" sz="1400" b="1" dirty="0">
                <a:solidFill>
                  <a:srgbClr val="A93B2E"/>
                </a:solidFill>
                <a:latin typeface="Arial" pitchFamily="34" charset="0"/>
                <a:ea typeface="Arial" pitchFamily="34" charset="-122"/>
                <a:cs typeface="Arial" pitchFamily="34" charset="-120"/>
              </a:rPr>
              <a:t>What we'd do differently</a:t>
            </a:r>
            <a:endParaRPr lang="en-US" sz="1400" dirty="0"/>
          </a:p>
        </p:txBody>
      </p:sp>
      <p:sp>
        <p:nvSpPr>
          <p:cNvPr id="7" name="Text 5"/>
          <p:cNvSpPr/>
          <p:nvPr/>
        </p:nvSpPr>
        <p:spPr>
          <a:xfrm>
            <a:off x="4709160" y="1737360"/>
            <a:ext cx="3931920" cy="3017520"/>
          </a:xfrm>
          <a:prstGeom prst="rect">
            <a:avLst/>
          </a:prstGeom>
          <a:noFill/>
          <a:ln/>
        </p:spPr>
        <p:txBody>
          <a:bodyPr wrap="square" lIns="0" tIns="0" rIns="0" bIns="0" rtlCol="0" anchor="ctr"/>
          <a:lstStyle/>
          <a:p>
            <a:pPr marL="152400" indent="-152400">
              <a:spcAft>
                <a:spcPts val="1000"/>
              </a:spcAft>
              <a:buSzPct val="100000"/>
              <a:buChar char="•"/>
            </a:pPr>
            <a:r>
              <a:rPr lang="en-US" sz="1200" dirty="0">
                <a:solidFill>
                  <a:srgbClr val="5B6470"/>
                </a:solidFill>
                <a:latin typeface="Arial" pitchFamily="34" charset="0"/>
                <a:ea typeface="Arial" pitchFamily="34" charset="-122"/>
                <a:cs typeface="Arial" pitchFamily="34" charset="-120"/>
              </a:rPr>
              <a:t>Staff the riskiest, most-blocking work first — our deployment pipeline sat unmerged while testing and the demo waited on it.</a:t>
            </a:r>
            <a:endParaRPr lang="en-US" sz="1200" dirty="0"/>
          </a:p>
          <a:p>
            <a:pPr marL="152400" indent="-152400">
              <a:spcAft>
                <a:spcPts val="1000"/>
              </a:spcAft>
              <a:buSzPct val="100000"/>
              <a:buChar char="•"/>
            </a:pPr>
            <a:r>
              <a:rPr lang="en-US" sz="1200" dirty="0">
                <a:solidFill>
                  <a:srgbClr val="5B6470"/>
                </a:solidFill>
                <a:latin typeface="Arial" pitchFamily="34" charset="0"/>
                <a:ea typeface="Arial" pitchFamily="34" charset="-122"/>
                <a:cs typeface="Arial" pitchFamily="34" charset="-120"/>
              </a:rPr>
              <a:t>Document onboarding friction immediately — a private-package token issue cost several new contributors the same hours.</a:t>
            </a:r>
            <a:endParaRPr lang="en-US" sz="1200" dirty="0"/>
          </a:p>
          <a:p>
            <a:pPr marL="152400" indent="-152400">
              <a:spcAft>
                <a:spcPts val="1000"/>
              </a:spcAft>
              <a:buSzPct val="100000"/>
              <a:buChar char="•"/>
            </a:pPr>
            <a:r>
              <a:rPr lang="en-US" sz="1200" dirty="0">
                <a:solidFill>
                  <a:srgbClr val="5B6470"/>
                </a:solidFill>
                <a:latin typeface="Arial" pitchFamily="34" charset="0"/>
                <a:ea typeface="Arial" pitchFamily="34" charset="-122"/>
                <a:cs typeface="Arial" pitchFamily="34" charset="-120"/>
              </a:rPr>
              <a:t>Lock product decisions, like pricing rules, earlier so engineering is never ready before the decision is.</a:t>
            </a:r>
            <a:endParaRPr lang="en-US" sz="1200" dirty="0"/>
          </a:p>
        </p:txBody>
      </p:sp>
      <p:sp>
        <p:nvSpPr>
          <p:cNvPr id="8" name="Shape 6"/>
          <p:cNvSpPr/>
          <p:nvPr/>
        </p:nvSpPr>
        <p:spPr>
          <a:xfrm>
            <a:off x="4572000" y="1417320"/>
            <a:ext cx="0" cy="3108960"/>
          </a:xfrm>
          <a:prstGeom prst="line">
            <a:avLst/>
          </a:prstGeom>
          <a:noFill/>
          <a:ln w="12700">
            <a:solidFill>
              <a:srgbClr val="E4E6EA"/>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300" kern="0" dirty="0">
                <a:solidFill>
                  <a:srgbClr val="A93B2E"/>
                </a:solidFill>
                <a:latin typeface="Arial" pitchFamily="34" charset="0"/>
                <a:ea typeface="Arial" pitchFamily="34" charset="-122"/>
                <a:cs typeface="Arial" pitchFamily="34" charset="-120"/>
              </a:rPr>
              <a:t>SCOPE</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Arial" pitchFamily="34" charset="-122"/>
                <a:cs typeface="Arial" pitchFamily="34" charset="-120"/>
              </a:rPr>
              <a:t>An MVP today — with a clear path forward</a:t>
            </a:r>
            <a:endParaRPr lang="en-US" sz="3000" dirty="0"/>
          </a:p>
        </p:txBody>
      </p:sp>
      <p:sp>
        <p:nvSpPr>
          <p:cNvPr id="4" name="Text 2"/>
          <p:cNvSpPr/>
          <p:nvPr/>
        </p:nvSpPr>
        <p:spPr>
          <a:xfrm>
            <a:off x="502920" y="1371600"/>
            <a:ext cx="3931920" cy="292608"/>
          </a:xfrm>
          <a:prstGeom prst="rect">
            <a:avLst/>
          </a:prstGeom>
          <a:noFill/>
          <a:ln/>
        </p:spPr>
        <p:txBody>
          <a:bodyPr wrap="square" lIns="0" tIns="0" rIns="0" bIns="0" rtlCol="0" anchor="ctr"/>
          <a:lstStyle/>
          <a:p>
            <a:pPr indent="0" marL="0">
              <a:buNone/>
            </a:pPr>
            <a:r>
              <a:rPr lang="en-US" sz="1400" b="1" dirty="0">
                <a:solidFill>
                  <a:srgbClr val="16181D"/>
                </a:solidFill>
                <a:latin typeface="Arial" pitchFamily="34" charset="0"/>
                <a:ea typeface="Arial" pitchFamily="34" charset="-122"/>
                <a:cs typeface="Arial" pitchFamily="34" charset="-120"/>
              </a:rPr>
              <a:t>Current limitations</a:t>
            </a:r>
            <a:endParaRPr lang="en-US" sz="1400" dirty="0"/>
          </a:p>
        </p:txBody>
      </p:sp>
      <p:sp>
        <p:nvSpPr>
          <p:cNvPr id="5" name="Text 3"/>
          <p:cNvSpPr/>
          <p:nvPr/>
        </p:nvSpPr>
        <p:spPr>
          <a:xfrm>
            <a:off x="502920" y="1737360"/>
            <a:ext cx="3931920" cy="2743200"/>
          </a:xfrm>
          <a:prstGeom prst="rect">
            <a:avLst/>
          </a:prstGeom>
          <a:noFill/>
          <a:ln/>
        </p:spPr>
        <p:txBody>
          <a:bodyPr wrap="square" lIns="0" tIns="0" rIns="0" bIns="0" rtlCol="0" anchor="ctr"/>
          <a:lstStyle/>
          <a:p>
            <a:pPr marL="152400" indent="-152400">
              <a:spcAft>
                <a:spcPts val="800"/>
              </a:spcAft>
              <a:buSzPct val="100000"/>
              <a:buChar char="•"/>
            </a:pPr>
            <a:r>
              <a:rPr lang="en-US" sz="1200" dirty="0">
                <a:solidFill>
                  <a:srgbClr val="5B6470"/>
                </a:solidFill>
                <a:latin typeface="Arial" pitchFamily="34" charset="0"/>
                <a:ea typeface="Arial" pitchFamily="34" charset="-122"/>
                <a:cs typeface="Arial" pitchFamily="34" charset="-120"/>
              </a:rPr>
              <a:t>Single-location, single-tenant deployment</a:t>
            </a:r>
            <a:endParaRPr lang="en-US" sz="1200" dirty="0"/>
          </a:p>
          <a:p>
            <a:pPr marL="152400" indent="-152400">
              <a:spcAft>
                <a:spcPts val="800"/>
              </a:spcAft>
              <a:buSzPct val="100000"/>
              <a:buChar char="•"/>
            </a:pPr>
            <a:r>
              <a:rPr lang="en-US" sz="1200" dirty="0">
                <a:solidFill>
                  <a:srgbClr val="5B6470"/>
                </a:solidFill>
                <a:latin typeface="Arial" pitchFamily="34" charset="0"/>
                <a:ea typeface="Arial" pitchFamily="34" charset="-122"/>
                <a:cs typeface="Arial" pitchFamily="34" charset="-120"/>
              </a:rPr>
              <a:t>Inventory updates are manual — no POS or scanner integration yet</a:t>
            </a:r>
            <a:endParaRPr lang="en-US" sz="1200" dirty="0"/>
          </a:p>
          <a:p>
            <a:pPr marL="152400" indent="-152400">
              <a:spcAft>
                <a:spcPts val="800"/>
              </a:spcAft>
              <a:buSzPct val="100000"/>
              <a:buChar char="•"/>
            </a:pPr>
            <a:r>
              <a:rPr lang="en-US" sz="1200" dirty="0">
                <a:solidFill>
                  <a:srgbClr val="5B6470"/>
                </a:solidFill>
                <a:latin typeface="Arial" pitchFamily="34" charset="0"/>
                <a:ea typeface="Arial" pitchFamily="34" charset="-122"/>
                <a:cs typeface="Arial" pitchFamily="34" charset="-120"/>
              </a:rPr>
              <a:t>Recommendations draw on current stock, not sales history</a:t>
            </a:r>
            <a:endParaRPr lang="en-US" sz="1200" dirty="0"/>
          </a:p>
          <a:p>
            <a:pPr marL="152400" indent="-152400">
              <a:buSzPct val="100000"/>
              <a:buChar char="•"/>
            </a:pPr>
            <a:r>
              <a:rPr lang="en-US" sz="1200" dirty="0">
                <a:solidFill>
                  <a:srgbClr val="5B6470"/>
                </a:solidFill>
                <a:latin typeface="Arial" pitchFamily="34" charset="0"/>
                <a:ea typeface="Arial" pitchFamily="34" charset="-122"/>
                <a:cs typeface="Arial" pitchFamily="34" charset="-120"/>
              </a:rPr>
              <a:t>Reporting covers core views; deeper analytics are future work</a:t>
            </a:r>
            <a:endParaRPr lang="en-US" sz="1200" dirty="0"/>
          </a:p>
        </p:txBody>
      </p:sp>
      <p:sp>
        <p:nvSpPr>
          <p:cNvPr id="6" name="Text 4"/>
          <p:cNvSpPr/>
          <p:nvPr/>
        </p:nvSpPr>
        <p:spPr>
          <a:xfrm>
            <a:off x="4709160" y="1371600"/>
            <a:ext cx="3931920" cy="292608"/>
          </a:xfrm>
          <a:prstGeom prst="rect">
            <a:avLst/>
          </a:prstGeom>
          <a:noFill/>
          <a:ln/>
        </p:spPr>
        <p:txBody>
          <a:bodyPr wrap="square" lIns="0" tIns="0" rIns="0" bIns="0" rtlCol="0" anchor="ctr"/>
          <a:lstStyle/>
          <a:p>
            <a:pPr indent="0" marL="0">
              <a:buNone/>
            </a:pPr>
            <a:r>
              <a:rPr lang="en-US" sz="1400" b="1" dirty="0">
                <a:solidFill>
                  <a:srgbClr val="16181D"/>
                </a:solidFill>
                <a:latin typeface="Arial" pitchFamily="34" charset="0"/>
                <a:ea typeface="Arial" pitchFamily="34" charset="-122"/>
                <a:cs typeface="Arial" pitchFamily="34" charset="-120"/>
              </a:rPr>
              <a:t>Future opportunities</a:t>
            </a:r>
            <a:endParaRPr lang="en-US" sz="1400" dirty="0"/>
          </a:p>
        </p:txBody>
      </p:sp>
      <p:sp>
        <p:nvSpPr>
          <p:cNvPr id="7" name="Text 5"/>
          <p:cNvSpPr/>
          <p:nvPr/>
        </p:nvSpPr>
        <p:spPr>
          <a:xfrm>
            <a:off x="4709160" y="1737360"/>
            <a:ext cx="3931920" cy="2743200"/>
          </a:xfrm>
          <a:prstGeom prst="rect">
            <a:avLst/>
          </a:prstGeom>
          <a:noFill/>
          <a:ln/>
        </p:spPr>
        <p:txBody>
          <a:bodyPr wrap="square" lIns="0" tIns="0" rIns="0" bIns="0" rtlCol="0" anchor="ctr"/>
          <a:lstStyle/>
          <a:p>
            <a:pPr marL="152400" indent="-152400">
              <a:spcAft>
                <a:spcPts val="800"/>
              </a:spcAft>
              <a:buSzPct val="100000"/>
              <a:buChar char="•"/>
            </a:pPr>
            <a:r>
              <a:rPr lang="en-US" sz="1200" dirty="0">
                <a:solidFill>
                  <a:srgbClr val="5B6470"/>
                </a:solidFill>
                <a:latin typeface="Arial" pitchFamily="34" charset="0"/>
                <a:ea typeface="Arial" pitchFamily="34" charset="-122"/>
                <a:cs typeface="Arial" pitchFamily="34" charset="-120"/>
              </a:rPr>
              <a:t>POS and supplier-ordering integrations for automatic stock updates</a:t>
            </a:r>
            <a:endParaRPr lang="en-US" sz="1200" dirty="0"/>
          </a:p>
          <a:p>
            <a:pPr marL="152400" indent="-152400">
              <a:spcAft>
                <a:spcPts val="800"/>
              </a:spcAft>
              <a:buSzPct val="100000"/>
              <a:buChar char="•"/>
            </a:pPr>
            <a:r>
              <a:rPr lang="en-US" sz="1200" dirty="0">
                <a:solidFill>
                  <a:srgbClr val="5B6470"/>
                </a:solidFill>
                <a:latin typeface="Arial" pitchFamily="34" charset="0"/>
                <a:ea typeface="Arial" pitchFamily="34" charset="-122"/>
                <a:cs typeface="Arial" pitchFamily="34" charset="-120"/>
              </a:rPr>
              <a:t>Demand forecasting from sales history to inform par levels</a:t>
            </a:r>
            <a:endParaRPr lang="en-US" sz="1200" dirty="0"/>
          </a:p>
          <a:p>
            <a:pPr marL="152400" indent="-152400">
              <a:spcAft>
                <a:spcPts val="800"/>
              </a:spcAft>
              <a:buSzPct val="100000"/>
              <a:buChar char="•"/>
            </a:pPr>
            <a:r>
              <a:rPr lang="en-US" sz="1200" dirty="0">
                <a:solidFill>
                  <a:srgbClr val="5B6470"/>
                </a:solidFill>
                <a:latin typeface="Arial" pitchFamily="34" charset="0"/>
                <a:ea typeface="Arial" pitchFamily="34" charset="-122"/>
                <a:cs typeface="Arial" pitchFamily="34" charset="-120"/>
              </a:rPr>
              <a:t>Multi-location support and role-based access</a:t>
            </a:r>
            <a:endParaRPr lang="en-US" sz="1200" dirty="0"/>
          </a:p>
          <a:p>
            <a:pPr marL="152400" indent="-152400">
              <a:buSzPct val="100000"/>
              <a:buChar char="•"/>
            </a:pPr>
            <a:r>
              <a:rPr lang="en-US" sz="1200" dirty="0">
                <a:solidFill>
                  <a:srgbClr val="5B6470"/>
                </a:solidFill>
                <a:latin typeface="Arial" pitchFamily="34" charset="0"/>
                <a:ea typeface="Arial" pitchFamily="34" charset="-122"/>
                <a:cs typeface="Arial" pitchFamily="34" charset="-120"/>
              </a:rPr>
              <a:t>Richer AI use: waste trend analysis, order suggestions, seasonal menus</a:t>
            </a:r>
            <a:endParaRPr lang="en-US" sz="1200" dirty="0"/>
          </a:p>
        </p:txBody>
      </p:sp>
      <p:sp>
        <p:nvSpPr>
          <p:cNvPr id="8" name="Shape 6"/>
          <p:cNvSpPr/>
          <p:nvPr/>
        </p:nvSpPr>
        <p:spPr>
          <a:xfrm>
            <a:off x="4572000" y="1417320"/>
            <a:ext cx="0" cy="2926080"/>
          </a:xfrm>
          <a:prstGeom prst="line">
            <a:avLst/>
          </a:prstGeom>
          <a:noFill/>
          <a:ln w="12700">
            <a:solidFill>
              <a:srgbClr val="E4E6EA"/>
            </a:solidFill>
            <a:prstDash val="solid"/>
          </a:ln>
        </p:spPr>
      </p:sp>
      <p:sp>
        <p:nvSpPr>
          <p:cNvPr id="9" name="Text 7"/>
          <p:cNvSpPr/>
          <p:nvPr/>
        </p:nvSpPr>
        <p:spPr>
          <a:xfrm>
            <a:off x="502920" y="4434840"/>
            <a:ext cx="8138160" cy="365760"/>
          </a:xfrm>
          <a:prstGeom prst="rect">
            <a:avLst/>
          </a:prstGeom>
          <a:noFill/>
          <a:ln/>
        </p:spPr>
        <p:txBody>
          <a:bodyPr wrap="square" lIns="0" tIns="0" rIns="0" bIns="0" rtlCol="0" anchor="ctr"/>
          <a:lstStyle/>
          <a:p>
            <a:pPr indent="0" marL="0">
              <a:buNone/>
            </a:pPr>
            <a:r>
              <a:rPr lang="en-US" sz="1250" i="1" dirty="0">
                <a:solidFill>
                  <a:srgbClr val="16181D"/>
                </a:solidFill>
                <a:latin typeface="Arial" pitchFamily="34" charset="0"/>
                <a:ea typeface="Arial" pitchFamily="34" charset="-122"/>
                <a:cs typeface="Arial" pitchFamily="34" charset="-120"/>
              </a:rPr>
              <a:t>The current system is a solid foundation — the architecture was built so these can be added without rework.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518"/>
        </a:solidFill>
      </p:bgPr>
    </p:bg>
    <p:spTree>
      <p:nvGrpSpPr>
        <p:cNvPr id="1" name=""/>
        <p:cNvGrpSpPr/>
        <p:nvPr/>
      </p:nvGrpSpPr>
      <p:grpSpPr>
        <a:xfrm>
          <a:off x="0" y="0"/>
          <a:ext cx="0" cy="0"/>
          <a:chOff x="0" y="0"/>
          <a:chExt cx="0" cy="0"/>
        </a:xfrm>
      </p:grpSpPr>
      <p:sp>
        <p:nvSpPr>
          <p:cNvPr id="2" name="Text 0"/>
          <p:cNvSpPr/>
          <p:nvPr/>
        </p:nvSpPr>
        <p:spPr>
          <a:xfrm>
            <a:off x="502920" y="502920"/>
            <a:ext cx="8138160" cy="274320"/>
          </a:xfrm>
          <a:prstGeom prst="rect">
            <a:avLst/>
          </a:prstGeom>
          <a:noFill/>
          <a:ln/>
        </p:spPr>
        <p:txBody>
          <a:bodyPr wrap="square" lIns="0" tIns="0" rIns="0" bIns="0" rtlCol="0" anchor="ctr"/>
          <a:lstStyle/>
          <a:p>
            <a:pPr indent="0" marL="0">
              <a:buNone/>
            </a:pPr>
            <a:r>
              <a:rPr lang="en-US" sz="1100" b="1" spc="300" kern="0" dirty="0">
                <a:solidFill>
                  <a:srgbClr val="D08A80"/>
                </a:solidFill>
                <a:latin typeface="Arial" pitchFamily="34" charset="0"/>
                <a:ea typeface="Arial" pitchFamily="34" charset="-122"/>
                <a:cs typeface="Arial" pitchFamily="34" charset="-120"/>
              </a:rPr>
              <a:t>THE TEAM</a:t>
            </a:r>
            <a:endParaRPr lang="en-US" sz="1100" dirty="0"/>
          </a:p>
        </p:txBody>
      </p:sp>
      <p:sp>
        <p:nvSpPr>
          <p:cNvPr id="3" name="Text 1"/>
          <p:cNvSpPr/>
          <p:nvPr/>
        </p:nvSpPr>
        <p:spPr>
          <a:xfrm>
            <a:off x="502920" y="777240"/>
            <a:ext cx="813816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Built by six of us</a:t>
            </a:r>
            <a:endParaRPr lang="en-US" sz="3000" dirty="0"/>
          </a:p>
        </p:txBody>
      </p:sp>
      <p:sp>
        <p:nvSpPr>
          <p:cNvPr id="4" name="Shape 2"/>
          <p:cNvSpPr/>
          <p:nvPr/>
        </p:nvSpPr>
        <p:spPr>
          <a:xfrm>
            <a:off x="502920" y="1600200"/>
            <a:ext cx="2670048" cy="841248"/>
          </a:xfrm>
          <a:prstGeom prst="roundRect">
            <a:avLst>
              <a:gd name="adj" fmla="val 6522"/>
            </a:avLst>
          </a:prstGeom>
          <a:solidFill>
            <a:srgbClr val="1D1F24"/>
          </a:solidFill>
          <a:ln w="12700">
            <a:solidFill>
              <a:srgbClr val="2C2F35"/>
            </a:solidFill>
            <a:prstDash val="solid"/>
          </a:ln>
        </p:spPr>
      </p:sp>
      <p:sp>
        <p:nvSpPr>
          <p:cNvPr id="5" name="Text 3"/>
          <p:cNvSpPr/>
          <p:nvPr/>
        </p:nvSpPr>
        <p:spPr>
          <a:xfrm>
            <a:off x="758952" y="1600200"/>
            <a:ext cx="2212848" cy="841248"/>
          </a:xfrm>
          <a:prstGeom prst="rect">
            <a:avLst/>
          </a:prstGeom>
          <a:noFill/>
          <a:ln/>
        </p:spPr>
        <p:txBody>
          <a:bodyPr wrap="square" lIns="0" tIns="0" rIns="0" bIns="0" rtlCol="0" anchor="ctr"/>
          <a:lstStyle/>
          <a:p>
            <a:pPr indent="0" marL="0">
              <a:spcAft>
                <a:spcPts val="300"/>
              </a:spcAft>
              <a:buNone/>
            </a:pPr>
            <a:r>
              <a:rPr lang="en-US" sz="1400" b="1" dirty="0">
                <a:solidFill>
                  <a:srgbClr val="FFFFFF"/>
                </a:solidFill>
                <a:latin typeface="Arial" pitchFamily="34" charset="0"/>
                <a:ea typeface="Arial" pitchFamily="34" charset="-122"/>
                <a:cs typeface="Arial" pitchFamily="34" charset="-120"/>
              </a:rPr>
              <a:t>Dan Nunes</a:t>
            </a:r>
            <a:endParaRPr lang="en-US" sz="1400" dirty="0"/>
          </a:p>
          <a:p>
            <a:pPr indent="0" marL="0">
              <a:spcAft>
                <a:spcPts val="300"/>
              </a:spcAft>
              <a:buNone/>
            </a:pPr>
            <a:r>
              <a:rPr lang="en-US" sz="1100" dirty="0">
                <a:solidFill>
                  <a:srgbClr val="8A8F98"/>
                </a:solidFill>
                <a:latin typeface="Arial" pitchFamily="34" charset="0"/>
                <a:ea typeface="Arial" pitchFamily="34" charset="-122"/>
                <a:cs typeface="Arial" pitchFamily="34" charset="-120"/>
              </a:rPr>
              <a:t>Project Manager</a:t>
            </a:r>
            <a:endParaRPr lang="en-US" sz="1400" dirty="0"/>
          </a:p>
        </p:txBody>
      </p:sp>
      <p:sp>
        <p:nvSpPr>
          <p:cNvPr id="6" name="Shape 4"/>
          <p:cNvSpPr/>
          <p:nvPr/>
        </p:nvSpPr>
        <p:spPr>
          <a:xfrm>
            <a:off x="3447288" y="1600200"/>
            <a:ext cx="2670048" cy="841248"/>
          </a:xfrm>
          <a:prstGeom prst="roundRect">
            <a:avLst>
              <a:gd name="adj" fmla="val 6522"/>
            </a:avLst>
          </a:prstGeom>
          <a:solidFill>
            <a:srgbClr val="1D1F24"/>
          </a:solidFill>
          <a:ln w="12700">
            <a:solidFill>
              <a:srgbClr val="2C2F35"/>
            </a:solidFill>
            <a:prstDash val="solid"/>
          </a:ln>
        </p:spPr>
      </p:sp>
      <p:sp>
        <p:nvSpPr>
          <p:cNvPr id="7" name="Text 5"/>
          <p:cNvSpPr/>
          <p:nvPr/>
        </p:nvSpPr>
        <p:spPr>
          <a:xfrm>
            <a:off x="3703320" y="1600200"/>
            <a:ext cx="2212848" cy="841248"/>
          </a:xfrm>
          <a:prstGeom prst="rect">
            <a:avLst/>
          </a:prstGeom>
          <a:noFill/>
          <a:ln/>
        </p:spPr>
        <p:txBody>
          <a:bodyPr wrap="square" lIns="0" tIns="0" rIns="0" bIns="0" rtlCol="0" anchor="ctr"/>
          <a:lstStyle/>
          <a:p>
            <a:pPr indent="0" marL="0">
              <a:spcAft>
                <a:spcPts val="300"/>
              </a:spcAft>
              <a:buNone/>
            </a:pPr>
            <a:r>
              <a:rPr lang="en-US" sz="1400" b="1" dirty="0">
                <a:solidFill>
                  <a:srgbClr val="FFFFFF"/>
                </a:solidFill>
                <a:latin typeface="Arial" pitchFamily="34" charset="0"/>
                <a:ea typeface="Arial" pitchFamily="34" charset="-122"/>
                <a:cs typeface="Arial" pitchFamily="34" charset="-120"/>
              </a:rPr>
              <a:t>Robert Lee</a:t>
            </a:r>
            <a:endParaRPr lang="en-US" sz="1400" dirty="0"/>
          </a:p>
          <a:p>
            <a:pPr indent="0" marL="0">
              <a:spcAft>
                <a:spcPts val="300"/>
              </a:spcAft>
              <a:buNone/>
            </a:pPr>
            <a:r>
              <a:rPr lang="en-US" sz="1100" dirty="0">
                <a:solidFill>
                  <a:srgbClr val="8A8F98"/>
                </a:solidFill>
                <a:latin typeface="Arial" pitchFamily="34" charset="0"/>
                <a:ea typeface="Arial" pitchFamily="34" charset="-122"/>
                <a:cs typeface="Arial" pitchFamily="34" charset="-120"/>
              </a:rPr>
              <a:t>Assistant Project Manager</a:t>
            </a:r>
            <a:endParaRPr lang="en-US" sz="1400" dirty="0"/>
          </a:p>
        </p:txBody>
      </p:sp>
      <p:sp>
        <p:nvSpPr>
          <p:cNvPr id="8" name="Shape 6"/>
          <p:cNvSpPr/>
          <p:nvPr/>
        </p:nvSpPr>
        <p:spPr>
          <a:xfrm>
            <a:off x="6391656" y="1600200"/>
            <a:ext cx="2670048" cy="841248"/>
          </a:xfrm>
          <a:prstGeom prst="roundRect">
            <a:avLst>
              <a:gd name="adj" fmla="val 6522"/>
            </a:avLst>
          </a:prstGeom>
          <a:solidFill>
            <a:srgbClr val="1D1F24"/>
          </a:solidFill>
          <a:ln w="12700">
            <a:solidFill>
              <a:srgbClr val="2C2F35"/>
            </a:solidFill>
            <a:prstDash val="solid"/>
          </a:ln>
        </p:spPr>
      </p:sp>
      <p:sp>
        <p:nvSpPr>
          <p:cNvPr id="9" name="Text 7"/>
          <p:cNvSpPr/>
          <p:nvPr/>
        </p:nvSpPr>
        <p:spPr>
          <a:xfrm>
            <a:off x="6647688" y="1600200"/>
            <a:ext cx="2212848" cy="841248"/>
          </a:xfrm>
          <a:prstGeom prst="rect">
            <a:avLst/>
          </a:prstGeom>
          <a:noFill/>
          <a:ln/>
        </p:spPr>
        <p:txBody>
          <a:bodyPr wrap="square" lIns="0" tIns="0" rIns="0" bIns="0" rtlCol="0" anchor="ctr"/>
          <a:lstStyle/>
          <a:p>
            <a:pPr indent="0" marL="0">
              <a:spcAft>
                <a:spcPts val="300"/>
              </a:spcAft>
              <a:buNone/>
            </a:pPr>
            <a:r>
              <a:rPr lang="en-US" sz="1400" b="1" dirty="0">
                <a:solidFill>
                  <a:srgbClr val="FFFFFF"/>
                </a:solidFill>
                <a:latin typeface="Arial" pitchFamily="34" charset="0"/>
                <a:ea typeface="Arial" pitchFamily="34" charset="-122"/>
                <a:cs typeface="Arial" pitchFamily="34" charset="-120"/>
              </a:rPr>
              <a:t>Adan Medina</a:t>
            </a:r>
            <a:endParaRPr lang="en-US" sz="1400" dirty="0"/>
          </a:p>
          <a:p>
            <a:pPr indent="0" marL="0">
              <a:spcAft>
                <a:spcPts val="300"/>
              </a:spcAft>
              <a:buNone/>
            </a:pPr>
            <a:r>
              <a:rPr lang="en-US" sz="1100" dirty="0">
                <a:solidFill>
                  <a:srgbClr val="8A8F98"/>
                </a:solidFill>
                <a:latin typeface="Arial" pitchFamily="34" charset="0"/>
                <a:ea typeface="Arial" pitchFamily="34" charset="-122"/>
                <a:cs typeface="Arial" pitchFamily="34" charset="-120"/>
              </a:rPr>
              <a:t>Product Owner</a:t>
            </a:r>
            <a:endParaRPr lang="en-US" sz="1400" dirty="0"/>
          </a:p>
        </p:txBody>
      </p:sp>
      <p:sp>
        <p:nvSpPr>
          <p:cNvPr id="10" name="Shape 8"/>
          <p:cNvSpPr/>
          <p:nvPr/>
        </p:nvSpPr>
        <p:spPr>
          <a:xfrm>
            <a:off x="502920" y="2697480"/>
            <a:ext cx="2670048" cy="841248"/>
          </a:xfrm>
          <a:prstGeom prst="roundRect">
            <a:avLst>
              <a:gd name="adj" fmla="val 6522"/>
            </a:avLst>
          </a:prstGeom>
          <a:solidFill>
            <a:srgbClr val="1D1F24"/>
          </a:solidFill>
          <a:ln w="12700">
            <a:solidFill>
              <a:srgbClr val="2C2F35"/>
            </a:solidFill>
            <a:prstDash val="solid"/>
          </a:ln>
        </p:spPr>
      </p:sp>
      <p:sp>
        <p:nvSpPr>
          <p:cNvPr id="11" name="Text 9"/>
          <p:cNvSpPr/>
          <p:nvPr/>
        </p:nvSpPr>
        <p:spPr>
          <a:xfrm>
            <a:off x="758952" y="2697480"/>
            <a:ext cx="2212848" cy="841248"/>
          </a:xfrm>
          <a:prstGeom prst="rect">
            <a:avLst/>
          </a:prstGeom>
          <a:noFill/>
          <a:ln/>
        </p:spPr>
        <p:txBody>
          <a:bodyPr wrap="square" lIns="0" tIns="0" rIns="0" bIns="0" rtlCol="0" anchor="ctr"/>
          <a:lstStyle/>
          <a:p>
            <a:pPr indent="0" marL="0">
              <a:spcAft>
                <a:spcPts val="300"/>
              </a:spcAft>
              <a:buNone/>
            </a:pPr>
            <a:r>
              <a:rPr lang="en-US" sz="1400" b="1" dirty="0">
                <a:solidFill>
                  <a:srgbClr val="FFFFFF"/>
                </a:solidFill>
                <a:latin typeface="Arial" pitchFamily="34" charset="0"/>
                <a:ea typeface="Arial" pitchFamily="34" charset="-122"/>
                <a:cs typeface="Arial" pitchFamily="34" charset="-120"/>
              </a:rPr>
              <a:t>Spencer Renfro</a:t>
            </a:r>
            <a:endParaRPr lang="en-US" sz="1400" dirty="0"/>
          </a:p>
          <a:p>
            <a:pPr indent="0" marL="0">
              <a:spcAft>
                <a:spcPts val="300"/>
              </a:spcAft>
              <a:buNone/>
            </a:pPr>
            <a:r>
              <a:rPr lang="en-US" sz="1100" dirty="0">
                <a:solidFill>
                  <a:srgbClr val="8A8F98"/>
                </a:solidFill>
                <a:latin typeface="Arial" pitchFamily="34" charset="0"/>
                <a:ea typeface="Arial" pitchFamily="34" charset="-122"/>
                <a:cs typeface="Arial" pitchFamily="34" charset="-120"/>
              </a:rPr>
              <a:t>Frontend Lead</a:t>
            </a:r>
            <a:endParaRPr lang="en-US" sz="1400" dirty="0"/>
          </a:p>
        </p:txBody>
      </p:sp>
      <p:sp>
        <p:nvSpPr>
          <p:cNvPr id="12" name="Shape 10"/>
          <p:cNvSpPr/>
          <p:nvPr/>
        </p:nvSpPr>
        <p:spPr>
          <a:xfrm>
            <a:off x="3447288" y="2697480"/>
            <a:ext cx="2670048" cy="841248"/>
          </a:xfrm>
          <a:prstGeom prst="roundRect">
            <a:avLst>
              <a:gd name="adj" fmla="val 6522"/>
            </a:avLst>
          </a:prstGeom>
          <a:solidFill>
            <a:srgbClr val="1D1F24"/>
          </a:solidFill>
          <a:ln w="12700">
            <a:solidFill>
              <a:srgbClr val="2C2F35"/>
            </a:solidFill>
            <a:prstDash val="solid"/>
          </a:ln>
        </p:spPr>
      </p:sp>
      <p:sp>
        <p:nvSpPr>
          <p:cNvPr id="13" name="Text 11"/>
          <p:cNvSpPr/>
          <p:nvPr/>
        </p:nvSpPr>
        <p:spPr>
          <a:xfrm>
            <a:off x="3703320" y="2697480"/>
            <a:ext cx="2212848" cy="841248"/>
          </a:xfrm>
          <a:prstGeom prst="rect">
            <a:avLst/>
          </a:prstGeom>
          <a:noFill/>
          <a:ln/>
        </p:spPr>
        <p:txBody>
          <a:bodyPr wrap="square" lIns="0" tIns="0" rIns="0" bIns="0" rtlCol="0" anchor="ctr"/>
          <a:lstStyle/>
          <a:p>
            <a:pPr indent="0" marL="0">
              <a:spcAft>
                <a:spcPts val="300"/>
              </a:spcAft>
              <a:buNone/>
            </a:pPr>
            <a:r>
              <a:rPr lang="en-US" sz="1400" b="1" dirty="0">
                <a:solidFill>
                  <a:srgbClr val="FFFFFF"/>
                </a:solidFill>
                <a:latin typeface="Arial" pitchFamily="34" charset="0"/>
                <a:ea typeface="Arial" pitchFamily="34" charset="-122"/>
                <a:cs typeface="Arial" pitchFamily="34" charset="-120"/>
              </a:rPr>
              <a:t>Arth Thakkar</a:t>
            </a:r>
            <a:endParaRPr lang="en-US" sz="1400" dirty="0"/>
          </a:p>
          <a:p>
            <a:pPr indent="0" marL="0">
              <a:spcAft>
                <a:spcPts val="300"/>
              </a:spcAft>
              <a:buNone/>
            </a:pPr>
            <a:r>
              <a:rPr lang="en-US" sz="1100" dirty="0">
                <a:solidFill>
                  <a:srgbClr val="8A8F98"/>
                </a:solidFill>
                <a:latin typeface="Arial" pitchFamily="34" charset="0"/>
                <a:ea typeface="Arial" pitchFamily="34" charset="-122"/>
                <a:cs typeface="Arial" pitchFamily="34" charset="-120"/>
              </a:rPr>
              <a:t>AI / Cloud Lead</a:t>
            </a:r>
            <a:endParaRPr lang="en-US" sz="1400" dirty="0"/>
          </a:p>
        </p:txBody>
      </p:sp>
      <p:sp>
        <p:nvSpPr>
          <p:cNvPr id="14" name="Shape 12"/>
          <p:cNvSpPr/>
          <p:nvPr/>
        </p:nvSpPr>
        <p:spPr>
          <a:xfrm>
            <a:off x="6391656" y="2697480"/>
            <a:ext cx="2670048" cy="841248"/>
          </a:xfrm>
          <a:prstGeom prst="roundRect">
            <a:avLst>
              <a:gd name="adj" fmla="val 6522"/>
            </a:avLst>
          </a:prstGeom>
          <a:solidFill>
            <a:srgbClr val="1D1F24"/>
          </a:solidFill>
          <a:ln w="12700">
            <a:solidFill>
              <a:srgbClr val="2C2F35"/>
            </a:solidFill>
            <a:prstDash val="solid"/>
          </a:ln>
        </p:spPr>
      </p:sp>
      <p:sp>
        <p:nvSpPr>
          <p:cNvPr id="15" name="Text 13"/>
          <p:cNvSpPr/>
          <p:nvPr/>
        </p:nvSpPr>
        <p:spPr>
          <a:xfrm>
            <a:off x="6647688" y="2697480"/>
            <a:ext cx="2212848" cy="841248"/>
          </a:xfrm>
          <a:prstGeom prst="rect">
            <a:avLst/>
          </a:prstGeom>
          <a:noFill/>
          <a:ln/>
        </p:spPr>
        <p:txBody>
          <a:bodyPr wrap="square" lIns="0" tIns="0" rIns="0" bIns="0" rtlCol="0" anchor="ctr"/>
          <a:lstStyle/>
          <a:p>
            <a:pPr indent="0" marL="0">
              <a:spcAft>
                <a:spcPts val="300"/>
              </a:spcAft>
              <a:buNone/>
            </a:pPr>
            <a:r>
              <a:rPr lang="en-US" sz="1400" b="1" dirty="0">
                <a:solidFill>
                  <a:srgbClr val="FFFFFF"/>
                </a:solidFill>
                <a:latin typeface="Arial" pitchFamily="34" charset="0"/>
                <a:ea typeface="Arial" pitchFamily="34" charset="-122"/>
                <a:cs typeface="Arial" pitchFamily="34" charset="-120"/>
              </a:rPr>
              <a:t>JJ Escandor</a:t>
            </a:r>
            <a:endParaRPr lang="en-US" sz="1400" dirty="0"/>
          </a:p>
          <a:p>
            <a:pPr indent="0" marL="0">
              <a:spcAft>
                <a:spcPts val="300"/>
              </a:spcAft>
              <a:buNone/>
            </a:pPr>
            <a:r>
              <a:rPr lang="en-US" sz="1100" dirty="0">
                <a:solidFill>
                  <a:srgbClr val="8A8F98"/>
                </a:solidFill>
                <a:latin typeface="Arial" pitchFamily="34" charset="0"/>
                <a:ea typeface="Arial" pitchFamily="34" charset="-122"/>
                <a:cs typeface="Arial" pitchFamily="34" charset="-120"/>
              </a:rPr>
              <a:t>Backend Lead</a:t>
            </a:r>
            <a:endParaRPr lang="en-US" sz="1400" dirty="0"/>
          </a:p>
        </p:txBody>
      </p:sp>
      <p:sp>
        <p:nvSpPr>
          <p:cNvPr id="16" name="Text 14"/>
          <p:cNvSpPr/>
          <p:nvPr/>
        </p:nvSpPr>
        <p:spPr>
          <a:xfrm>
            <a:off x="502920" y="3977640"/>
            <a:ext cx="813816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With thanks to Professor Castillo </a:t>
            </a:r>
            <a:pPr indent="0" marL="0">
              <a:buNone/>
            </a:pPr>
            <a:r>
              <a:rPr lang="en-US" sz="1400" dirty="0">
                <a:solidFill>
                  <a:srgbClr val="C9CDD4"/>
                </a:solidFill>
                <a:latin typeface="Arial" pitchFamily="34" charset="0"/>
                <a:ea typeface="Arial" pitchFamily="34" charset="-122"/>
                <a:cs typeface="Arial" pitchFamily="34" charset="-120"/>
              </a:rPr>
              <a:t>for his instruction and support throughout the capstone.</a:t>
            </a:r>
            <a:endParaRPr lang="en-US" sz="1400" dirty="0"/>
          </a:p>
        </p:txBody>
      </p:sp>
      <p:sp>
        <p:nvSpPr>
          <p:cNvPr id="17" name="Text 15"/>
          <p:cNvSpPr/>
          <p:nvPr/>
        </p:nvSpPr>
        <p:spPr>
          <a:xfrm>
            <a:off x="502920" y="4526280"/>
            <a:ext cx="8138160" cy="274320"/>
          </a:xfrm>
          <a:prstGeom prst="rect">
            <a:avLst/>
          </a:prstGeom>
          <a:noFill/>
          <a:ln/>
        </p:spPr>
        <p:txBody>
          <a:bodyPr wrap="square" lIns="0" tIns="0" rIns="0" bIns="0" rtlCol="0" anchor="ctr"/>
          <a:lstStyle/>
          <a:p>
            <a:pPr indent="0" marL="0">
              <a:buNone/>
            </a:pPr>
            <a:r>
              <a:rPr lang="en-US" sz="1100" dirty="0">
                <a:solidFill>
                  <a:srgbClr val="6B7078"/>
                </a:solidFill>
                <a:latin typeface="Arial" pitchFamily="34" charset="0"/>
                <a:ea typeface="Arial" pitchFamily="34" charset="-122"/>
                <a:cs typeface="Arial" pitchFamily="34" charset="-120"/>
              </a:rPr>
              <a:t>Mise · UMGC CMSC 495 · Summer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Mise — AI-Native Kitchen Inventory (CMSC 495 Capstone)</dc:title>
  <dc:subject>PptxGenJS Presentation</dc:subject>
  <dc:creator>Mise Capstone Team</dc:creator>
  <cp:lastModifiedBy>Mise Capstone Team</cp:lastModifiedBy>
  <cp:revision>1</cp:revision>
  <dcterms:created xsi:type="dcterms:W3CDTF">2026-07-03T23:43:59Z</dcterms:created>
  <dcterms:modified xsi:type="dcterms:W3CDTF">2026-07-03T23:43:59Z</dcterms:modified>
</cp:coreProperties>
</file>